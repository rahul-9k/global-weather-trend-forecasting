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5B776-BE2D-4C23-ABED-43EED1CF1C6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06AEA95D-F0CE-4E3C-92E4-509A2E5A25A5}">
      <dgm:prSet phldrT="[Text]"/>
      <dgm:spPr/>
      <dgm:t>
        <a:bodyPr/>
        <a:lstStyle/>
        <a:p>
          <a:pPr>
            <a:buNone/>
          </a:pPr>
          <a:r>
            <a:rPr lang="en-IN" dirty="0"/>
            <a:t>Raw Data</a:t>
          </a:r>
        </a:p>
      </dgm:t>
    </dgm:pt>
    <dgm:pt modelId="{DB6152D8-ED97-459D-B301-68FDFC6B0D49}" type="parTrans" cxnId="{66E5A65E-86AE-4106-A0D0-DCF487CCDD44}">
      <dgm:prSet/>
      <dgm:spPr/>
      <dgm:t>
        <a:bodyPr/>
        <a:lstStyle/>
        <a:p>
          <a:endParaRPr lang="en-IN"/>
        </a:p>
      </dgm:t>
    </dgm:pt>
    <dgm:pt modelId="{8251D992-743B-4171-9EE5-568AD8E27F40}" type="sibTrans" cxnId="{66E5A65E-86AE-4106-A0D0-DCF487CCDD44}">
      <dgm:prSet/>
      <dgm:spPr/>
      <dgm:t>
        <a:bodyPr/>
        <a:lstStyle/>
        <a:p>
          <a:endParaRPr lang="en-IN"/>
        </a:p>
      </dgm:t>
    </dgm:pt>
    <dgm:pt modelId="{E9E851C0-8765-4598-9C76-0FBCA0D969A7}">
      <dgm:prSet phldrT="[Text]"/>
      <dgm:spPr/>
      <dgm:t>
        <a:bodyPr/>
        <a:lstStyle/>
        <a:p>
          <a:pPr>
            <a:buNone/>
          </a:pPr>
          <a:r>
            <a:rPr lang="en-IN" dirty="0"/>
            <a:t>Cleaning</a:t>
          </a:r>
        </a:p>
      </dgm:t>
    </dgm:pt>
    <dgm:pt modelId="{73EB0926-2D2F-4D7D-8BB4-7F68BBB3E396}" type="parTrans" cxnId="{23443526-C6A1-4C0C-8D45-0EB7CC3862E7}">
      <dgm:prSet/>
      <dgm:spPr/>
      <dgm:t>
        <a:bodyPr/>
        <a:lstStyle/>
        <a:p>
          <a:endParaRPr lang="en-IN"/>
        </a:p>
      </dgm:t>
    </dgm:pt>
    <dgm:pt modelId="{A27552F5-D1F2-4238-99CA-FCC64858754F}" type="sibTrans" cxnId="{23443526-C6A1-4C0C-8D45-0EB7CC3862E7}">
      <dgm:prSet/>
      <dgm:spPr/>
      <dgm:t>
        <a:bodyPr/>
        <a:lstStyle/>
        <a:p>
          <a:endParaRPr lang="en-IN"/>
        </a:p>
      </dgm:t>
    </dgm:pt>
    <dgm:pt modelId="{BB9D0766-0E94-4A5E-BB87-12344402DE65}">
      <dgm:prSet phldrT="[Text]"/>
      <dgm:spPr/>
      <dgm:t>
        <a:bodyPr/>
        <a:lstStyle/>
        <a:p>
          <a:pPr>
            <a:buNone/>
          </a:pPr>
          <a:r>
            <a:rPr lang="en-IN" dirty="0"/>
            <a:t>Feature Engineering</a:t>
          </a:r>
        </a:p>
      </dgm:t>
    </dgm:pt>
    <dgm:pt modelId="{B285781A-1FDF-448F-AA61-61993A352B99}" type="parTrans" cxnId="{180EAB74-4432-4CC6-A51A-77D8AA935D26}">
      <dgm:prSet/>
      <dgm:spPr/>
      <dgm:t>
        <a:bodyPr/>
        <a:lstStyle/>
        <a:p>
          <a:endParaRPr lang="en-IN"/>
        </a:p>
      </dgm:t>
    </dgm:pt>
    <dgm:pt modelId="{A578F0E3-08F1-4373-BE0E-B01EFFFD414E}" type="sibTrans" cxnId="{180EAB74-4432-4CC6-A51A-77D8AA935D26}">
      <dgm:prSet/>
      <dgm:spPr/>
      <dgm:t>
        <a:bodyPr/>
        <a:lstStyle/>
        <a:p>
          <a:endParaRPr lang="en-IN"/>
        </a:p>
      </dgm:t>
    </dgm:pt>
    <dgm:pt modelId="{06349043-1013-4821-9239-27E4B0EC76C1}">
      <dgm:prSet phldrT="[Text]"/>
      <dgm:spPr/>
      <dgm:t>
        <a:bodyPr/>
        <a:lstStyle/>
        <a:p>
          <a:pPr>
            <a:buNone/>
          </a:pPr>
          <a:r>
            <a:rPr lang="en-IN" dirty="0"/>
            <a:t>EDA &amp; Analysis</a:t>
          </a:r>
        </a:p>
      </dgm:t>
    </dgm:pt>
    <dgm:pt modelId="{70A4661C-701A-47D7-B816-42CF479C7EFE}" type="parTrans" cxnId="{B47FDF72-AE5D-4CC9-BE8A-E2DC56F4AF7B}">
      <dgm:prSet/>
      <dgm:spPr/>
      <dgm:t>
        <a:bodyPr/>
        <a:lstStyle/>
        <a:p>
          <a:endParaRPr lang="en-IN"/>
        </a:p>
      </dgm:t>
    </dgm:pt>
    <dgm:pt modelId="{FE944686-0EEC-4988-B25E-6DD4A53DAFDF}" type="sibTrans" cxnId="{B47FDF72-AE5D-4CC9-BE8A-E2DC56F4AF7B}">
      <dgm:prSet/>
      <dgm:spPr/>
      <dgm:t>
        <a:bodyPr/>
        <a:lstStyle/>
        <a:p>
          <a:endParaRPr lang="en-IN"/>
        </a:p>
      </dgm:t>
    </dgm:pt>
    <dgm:pt modelId="{FE66BA45-710B-4806-89C5-FF79421D61C5}">
      <dgm:prSet phldrT="[Text]"/>
      <dgm:spPr/>
      <dgm:t>
        <a:bodyPr/>
        <a:lstStyle/>
        <a:p>
          <a:pPr>
            <a:buNone/>
          </a:pPr>
          <a:r>
            <a:rPr lang="en-IN" dirty="0"/>
            <a:t>Forecasting Models</a:t>
          </a:r>
        </a:p>
      </dgm:t>
    </dgm:pt>
    <dgm:pt modelId="{94F9B804-A087-4BF2-88BD-7F973EFDB622}" type="parTrans" cxnId="{E41D19D1-F4B7-494C-8E38-BD43065BB4F7}">
      <dgm:prSet/>
      <dgm:spPr/>
      <dgm:t>
        <a:bodyPr/>
        <a:lstStyle/>
        <a:p>
          <a:endParaRPr lang="en-IN"/>
        </a:p>
      </dgm:t>
    </dgm:pt>
    <dgm:pt modelId="{7F0E8A87-02D8-441D-AF2E-901C63DC418F}" type="sibTrans" cxnId="{E41D19D1-F4B7-494C-8E38-BD43065BB4F7}">
      <dgm:prSet/>
      <dgm:spPr/>
      <dgm:t>
        <a:bodyPr/>
        <a:lstStyle/>
        <a:p>
          <a:endParaRPr lang="en-IN"/>
        </a:p>
      </dgm:t>
    </dgm:pt>
    <dgm:pt modelId="{9766C981-34B4-4734-BDB3-8EB2BDD68B67}" type="pres">
      <dgm:prSet presAssocID="{F7A5B776-BE2D-4C23-ABED-43EED1CF1C6E}" presName="linearFlow" presStyleCnt="0">
        <dgm:presLayoutVars>
          <dgm:resizeHandles val="exact"/>
        </dgm:presLayoutVars>
      </dgm:prSet>
      <dgm:spPr/>
    </dgm:pt>
    <dgm:pt modelId="{93D9C7D0-7127-405F-8C27-9DEB9F131AA0}" type="pres">
      <dgm:prSet presAssocID="{06AEA95D-F0CE-4E3C-92E4-509A2E5A25A5}" presName="node" presStyleLbl="node1" presStyleIdx="0" presStyleCnt="5">
        <dgm:presLayoutVars>
          <dgm:bulletEnabled val="1"/>
        </dgm:presLayoutVars>
      </dgm:prSet>
      <dgm:spPr/>
    </dgm:pt>
    <dgm:pt modelId="{025B0BEE-B17C-4E33-8DA4-7770C2503F47}" type="pres">
      <dgm:prSet presAssocID="{8251D992-743B-4171-9EE5-568AD8E27F40}" presName="sibTrans" presStyleLbl="sibTrans2D1" presStyleIdx="0" presStyleCnt="4"/>
      <dgm:spPr/>
    </dgm:pt>
    <dgm:pt modelId="{1239547E-A3D0-492D-9162-93DE78F73B7D}" type="pres">
      <dgm:prSet presAssocID="{8251D992-743B-4171-9EE5-568AD8E27F40}" presName="connectorText" presStyleLbl="sibTrans2D1" presStyleIdx="0" presStyleCnt="4"/>
      <dgm:spPr/>
    </dgm:pt>
    <dgm:pt modelId="{9F16D7C9-97F8-48CA-BB74-6C876681927D}" type="pres">
      <dgm:prSet presAssocID="{E9E851C0-8765-4598-9C76-0FBCA0D969A7}" presName="node" presStyleLbl="node1" presStyleIdx="1" presStyleCnt="5">
        <dgm:presLayoutVars>
          <dgm:bulletEnabled val="1"/>
        </dgm:presLayoutVars>
      </dgm:prSet>
      <dgm:spPr/>
    </dgm:pt>
    <dgm:pt modelId="{0D8473FD-0522-4FAD-A7D0-5542F3BB310A}" type="pres">
      <dgm:prSet presAssocID="{A27552F5-D1F2-4238-99CA-FCC64858754F}" presName="sibTrans" presStyleLbl="sibTrans2D1" presStyleIdx="1" presStyleCnt="4"/>
      <dgm:spPr/>
    </dgm:pt>
    <dgm:pt modelId="{6AA2730E-FB7B-4832-B4B4-D1A8E2A4A859}" type="pres">
      <dgm:prSet presAssocID="{A27552F5-D1F2-4238-99CA-FCC64858754F}" presName="connectorText" presStyleLbl="sibTrans2D1" presStyleIdx="1" presStyleCnt="4"/>
      <dgm:spPr/>
    </dgm:pt>
    <dgm:pt modelId="{A59C2093-C6ED-4B38-8FD4-5F69EEF07C1E}" type="pres">
      <dgm:prSet presAssocID="{BB9D0766-0E94-4A5E-BB87-12344402DE65}" presName="node" presStyleLbl="node1" presStyleIdx="2" presStyleCnt="5">
        <dgm:presLayoutVars>
          <dgm:bulletEnabled val="1"/>
        </dgm:presLayoutVars>
      </dgm:prSet>
      <dgm:spPr/>
    </dgm:pt>
    <dgm:pt modelId="{6864FED6-FC7B-4CC0-8001-D9397D82E8D8}" type="pres">
      <dgm:prSet presAssocID="{A578F0E3-08F1-4373-BE0E-B01EFFFD414E}" presName="sibTrans" presStyleLbl="sibTrans2D1" presStyleIdx="2" presStyleCnt="4"/>
      <dgm:spPr/>
    </dgm:pt>
    <dgm:pt modelId="{A0E30B91-300F-43CA-BC25-B0C2EF52628F}" type="pres">
      <dgm:prSet presAssocID="{A578F0E3-08F1-4373-BE0E-B01EFFFD414E}" presName="connectorText" presStyleLbl="sibTrans2D1" presStyleIdx="2" presStyleCnt="4"/>
      <dgm:spPr/>
    </dgm:pt>
    <dgm:pt modelId="{27BD67CF-47A5-4CE4-A7F2-EF6FAFD59A55}" type="pres">
      <dgm:prSet presAssocID="{06349043-1013-4821-9239-27E4B0EC76C1}" presName="node" presStyleLbl="node1" presStyleIdx="3" presStyleCnt="5">
        <dgm:presLayoutVars>
          <dgm:bulletEnabled val="1"/>
        </dgm:presLayoutVars>
      </dgm:prSet>
      <dgm:spPr/>
    </dgm:pt>
    <dgm:pt modelId="{BBD41EFE-38CD-4BAA-8251-5EC176E4017C}" type="pres">
      <dgm:prSet presAssocID="{FE944686-0EEC-4988-B25E-6DD4A53DAFDF}" presName="sibTrans" presStyleLbl="sibTrans2D1" presStyleIdx="3" presStyleCnt="4"/>
      <dgm:spPr/>
    </dgm:pt>
    <dgm:pt modelId="{093797F7-7D8D-4B45-8AE1-BB4574268422}" type="pres">
      <dgm:prSet presAssocID="{FE944686-0EEC-4988-B25E-6DD4A53DAFDF}" presName="connectorText" presStyleLbl="sibTrans2D1" presStyleIdx="3" presStyleCnt="4"/>
      <dgm:spPr/>
    </dgm:pt>
    <dgm:pt modelId="{159675E7-3D00-4F58-922B-2610E5EEF68C}" type="pres">
      <dgm:prSet presAssocID="{FE66BA45-710B-4806-89C5-FF79421D61C5}" presName="node" presStyleLbl="node1" presStyleIdx="4" presStyleCnt="5">
        <dgm:presLayoutVars>
          <dgm:bulletEnabled val="1"/>
        </dgm:presLayoutVars>
      </dgm:prSet>
      <dgm:spPr/>
    </dgm:pt>
  </dgm:ptLst>
  <dgm:cxnLst>
    <dgm:cxn modelId="{D9115800-4813-46A5-8E95-57C89A1D4EAA}" type="presOf" srcId="{FE66BA45-710B-4806-89C5-FF79421D61C5}" destId="{159675E7-3D00-4F58-922B-2610E5EEF68C}" srcOrd="0" destOrd="0" presId="urn:microsoft.com/office/officeart/2005/8/layout/process2"/>
    <dgm:cxn modelId="{C0E3DF09-B9A5-43FF-904A-75C0464DCD94}" type="presOf" srcId="{8251D992-743B-4171-9EE5-568AD8E27F40}" destId="{1239547E-A3D0-492D-9162-93DE78F73B7D}" srcOrd="1" destOrd="0" presId="urn:microsoft.com/office/officeart/2005/8/layout/process2"/>
    <dgm:cxn modelId="{7486A111-3F05-47C2-A45B-229E6CB37952}" type="presOf" srcId="{BB9D0766-0E94-4A5E-BB87-12344402DE65}" destId="{A59C2093-C6ED-4B38-8FD4-5F69EEF07C1E}" srcOrd="0" destOrd="0" presId="urn:microsoft.com/office/officeart/2005/8/layout/process2"/>
    <dgm:cxn modelId="{F3D8DE14-FC4B-416F-9BA1-9F35E6B592E9}" type="presOf" srcId="{FE944686-0EEC-4988-B25E-6DD4A53DAFDF}" destId="{BBD41EFE-38CD-4BAA-8251-5EC176E4017C}" srcOrd="0" destOrd="0" presId="urn:microsoft.com/office/officeart/2005/8/layout/process2"/>
    <dgm:cxn modelId="{5050CF16-64D5-4377-8493-FFDD96BB56EA}" type="presOf" srcId="{06349043-1013-4821-9239-27E4B0EC76C1}" destId="{27BD67CF-47A5-4CE4-A7F2-EF6FAFD59A55}" srcOrd="0" destOrd="0" presId="urn:microsoft.com/office/officeart/2005/8/layout/process2"/>
    <dgm:cxn modelId="{23443526-C6A1-4C0C-8D45-0EB7CC3862E7}" srcId="{F7A5B776-BE2D-4C23-ABED-43EED1CF1C6E}" destId="{E9E851C0-8765-4598-9C76-0FBCA0D969A7}" srcOrd="1" destOrd="0" parTransId="{73EB0926-2D2F-4D7D-8BB4-7F68BBB3E396}" sibTransId="{A27552F5-D1F2-4238-99CA-FCC64858754F}"/>
    <dgm:cxn modelId="{883FE73B-93DA-4A53-97A9-35262D04CB96}" type="presOf" srcId="{A578F0E3-08F1-4373-BE0E-B01EFFFD414E}" destId="{A0E30B91-300F-43CA-BC25-B0C2EF52628F}" srcOrd="1" destOrd="0" presId="urn:microsoft.com/office/officeart/2005/8/layout/process2"/>
    <dgm:cxn modelId="{66E5A65E-86AE-4106-A0D0-DCF487CCDD44}" srcId="{F7A5B776-BE2D-4C23-ABED-43EED1CF1C6E}" destId="{06AEA95D-F0CE-4E3C-92E4-509A2E5A25A5}" srcOrd="0" destOrd="0" parTransId="{DB6152D8-ED97-459D-B301-68FDFC6B0D49}" sibTransId="{8251D992-743B-4171-9EE5-568AD8E27F40}"/>
    <dgm:cxn modelId="{5CCD2563-5A05-4C24-B8D6-2B27ED86309B}" type="presOf" srcId="{06AEA95D-F0CE-4E3C-92E4-509A2E5A25A5}" destId="{93D9C7D0-7127-405F-8C27-9DEB9F131AA0}" srcOrd="0" destOrd="0" presId="urn:microsoft.com/office/officeart/2005/8/layout/process2"/>
    <dgm:cxn modelId="{2994E548-0E1B-4E8E-A413-73015BBEF5DD}" type="presOf" srcId="{E9E851C0-8765-4598-9C76-0FBCA0D969A7}" destId="{9F16D7C9-97F8-48CA-BB74-6C876681927D}" srcOrd="0" destOrd="0" presId="urn:microsoft.com/office/officeart/2005/8/layout/process2"/>
    <dgm:cxn modelId="{B47FDF72-AE5D-4CC9-BE8A-E2DC56F4AF7B}" srcId="{F7A5B776-BE2D-4C23-ABED-43EED1CF1C6E}" destId="{06349043-1013-4821-9239-27E4B0EC76C1}" srcOrd="3" destOrd="0" parTransId="{70A4661C-701A-47D7-B816-42CF479C7EFE}" sibTransId="{FE944686-0EEC-4988-B25E-6DD4A53DAFDF}"/>
    <dgm:cxn modelId="{180EAB74-4432-4CC6-A51A-77D8AA935D26}" srcId="{F7A5B776-BE2D-4C23-ABED-43EED1CF1C6E}" destId="{BB9D0766-0E94-4A5E-BB87-12344402DE65}" srcOrd="2" destOrd="0" parTransId="{B285781A-1FDF-448F-AA61-61993A352B99}" sibTransId="{A578F0E3-08F1-4373-BE0E-B01EFFFD414E}"/>
    <dgm:cxn modelId="{7C5CE29C-2189-4942-92EB-FA61398360F3}" type="presOf" srcId="{A27552F5-D1F2-4238-99CA-FCC64858754F}" destId="{6AA2730E-FB7B-4832-B4B4-D1A8E2A4A859}" srcOrd="1" destOrd="0" presId="urn:microsoft.com/office/officeart/2005/8/layout/process2"/>
    <dgm:cxn modelId="{FE7F60A1-E84E-4004-904E-0927BC9917EB}" type="presOf" srcId="{A27552F5-D1F2-4238-99CA-FCC64858754F}" destId="{0D8473FD-0522-4FAD-A7D0-5542F3BB310A}" srcOrd="0" destOrd="0" presId="urn:microsoft.com/office/officeart/2005/8/layout/process2"/>
    <dgm:cxn modelId="{E41D19D1-F4B7-494C-8E38-BD43065BB4F7}" srcId="{F7A5B776-BE2D-4C23-ABED-43EED1CF1C6E}" destId="{FE66BA45-710B-4806-89C5-FF79421D61C5}" srcOrd="4" destOrd="0" parTransId="{94F9B804-A087-4BF2-88BD-7F973EFDB622}" sibTransId="{7F0E8A87-02D8-441D-AF2E-901C63DC418F}"/>
    <dgm:cxn modelId="{407239D4-AB73-45AA-8F35-954D1F1FB892}" type="presOf" srcId="{A578F0E3-08F1-4373-BE0E-B01EFFFD414E}" destId="{6864FED6-FC7B-4CC0-8001-D9397D82E8D8}" srcOrd="0" destOrd="0" presId="urn:microsoft.com/office/officeart/2005/8/layout/process2"/>
    <dgm:cxn modelId="{8BF0E9E8-D228-49D1-837F-C79869F8F62B}" type="presOf" srcId="{FE944686-0EEC-4988-B25E-6DD4A53DAFDF}" destId="{093797F7-7D8D-4B45-8AE1-BB4574268422}" srcOrd="1" destOrd="0" presId="urn:microsoft.com/office/officeart/2005/8/layout/process2"/>
    <dgm:cxn modelId="{7CCF50F0-02AC-44E0-8595-981F2D6D6F6C}" type="presOf" srcId="{F7A5B776-BE2D-4C23-ABED-43EED1CF1C6E}" destId="{9766C981-34B4-4734-BDB3-8EB2BDD68B67}" srcOrd="0" destOrd="0" presId="urn:microsoft.com/office/officeart/2005/8/layout/process2"/>
    <dgm:cxn modelId="{1C1DB5F3-7DE9-4E7A-860E-BB456C85BC15}" type="presOf" srcId="{8251D992-743B-4171-9EE5-568AD8E27F40}" destId="{025B0BEE-B17C-4E33-8DA4-7770C2503F47}" srcOrd="0" destOrd="0" presId="urn:microsoft.com/office/officeart/2005/8/layout/process2"/>
    <dgm:cxn modelId="{59163369-DF37-4D88-A56A-28A9AC2B0476}" type="presParOf" srcId="{9766C981-34B4-4734-BDB3-8EB2BDD68B67}" destId="{93D9C7D0-7127-405F-8C27-9DEB9F131AA0}" srcOrd="0" destOrd="0" presId="urn:microsoft.com/office/officeart/2005/8/layout/process2"/>
    <dgm:cxn modelId="{4871EDAC-D48D-46A4-AA2A-1161DEAE3B2C}" type="presParOf" srcId="{9766C981-34B4-4734-BDB3-8EB2BDD68B67}" destId="{025B0BEE-B17C-4E33-8DA4-7770C2503F47}" srcOrd="1" destOrd="0" presId="urn:microsoft.com/office/officeart/2005/8/layout/process2"/>
    <dgm:cxn modelId="{3540DE08-5215-4928-A214-4A006A79E7AD}" type="presParOf" srcId="{025B0BEE-B17C-4E33-8DA4-7770C2503F47}" destId="{1239547E-A3D0-492D-9162-93DE78F73B7D}" srcOrd="0" destOrd="0" presId="urn:microsoft.com/office/officeart/2005/8/layout/process2"/>
    <dgm:cxn modelId="{ED5C8F35-51C2-4ADA-A68C-F35AD255168B}" type="presParOf" srcId="{9766C981-34B4-4734-BDB3-8EB2BDD68B67}" destId="{9F16D7C9-97F8-48CA-BB74-6C876681927D}" srcOrd="2" destOrd="0" presId="urn:microsoft.com/office/officeart/2005/8/layout/process2"/>
    <dgm:cxn modelId="{D20E4C5A-569A-4795-8C1F-3B3945BA01FA}" type="presParOf" srcId="{9766C981-34B4-4734-BDB3-8EB2BDD68B67}" destId="{0D8473FD-0522-4FAD-A7D0-5542F3BB310A}" srcOrd="3" destOrd="0" presId="urn:microsoft.com/office/officeart/2005/8/layout/process2"/>
    <dgm:cxn modelId="{5048F908-433A-4297-9D89-55FDDA3336C0}" type="presParOf" srcId="{0D8473FD-0522-4FAD-A7D0-5542F3BB310A}" destId="{6AA2730E-FB7B-4832-B4B4-D1A8E2A4A859}" srcOrd="0" destOrd="0" presId="urn:microsoft.com/office/officeart/2005/8/layout/process2"/>
    <dgm:cxn modelId="{18FA5223-AF22-43C8-AB40-DA313504E240}" type="presParOf" srcId="{9766C981-34B4-4734-BDB3-8EB2BDD68B67}" destId="{A59C2093-C6ED-4B38-8FD4-5F69EEF07C1E}" srcOrd="4" destOrd="0" presId="urn:microsoft.com/office/officeart/2005/8/layout/process2"/>
    <dgm:cxn modelId="{97101A72-A9BB-4E50-965A-B6EE6A02DF52}" type="presParOf" srcId="{9766C981-34B4-4734-BDB3-8EB2BDD68B67}" destId="{6864FED6-FC7B-4CC0-8001-D9397D82E8D8}" srcOrd="5" destOrd="0" presId="urn:microsoft.com/office/officeart/2005/8/layout/process2"/>
    <dgm:cxn modelId="{D53331B5-9AE0-49C6-9827-2170BAD36C55}" type="presParOf" srcId="{6864FED6-FC7B-4CC0-8001-D9397D82E8D8}" destId="{A0E30B91-300F-43CA-BC25-B0C2EF52628F}" srcOrd="0" destOrd="0" presId="urn:microsoft.com/office/officeart/2005/8/layout/process2"/>
    <dgm:cxn modelId="{FBAA31D4-ADCA-4659-B0AD-9BAE3210575F}" type="presParOf" srcId="{9766C981-34B4-4734-BDB3-8EB2BDD68B67}" destId="{27BD67CF-47A5-4CE4-A7F2-EF6FAFD59A55}" srcOrd="6" destOrd="0" presId="urn:microsoft.com/office/officeart/2005/8/layout/process2"/>
    <dgm:cxn modelId="{3CF3155F-0450-42CF-B0F7-F4996E54E4A6}" type="presParOf" srcId="{9766C981-34B4-4734-BDB3-8EB2BDD68B67}" destId="{BBD41EFE-38CD-4BAA-8251-5EC176E4017C}" srcOrd="7" destOrd="0" presId="urn:microsoft.com/office/officeart/2005/8/layout/process2"/>
    <dgm:cxn modelId="{35310682-5EC4-4ABC-A346-AA8B4FE1C73C}" type="presParOf" srcId="{BBD41EFE-38CD-4BAA-8251-5EC176E4017C}" destId="{093797F7-7D8D-4B45-8AE1-BB4574268422}" srcOrd="0" destOrd="0" presId="urn:microsoft.com/office/officeart/2005/8/layout/process2"/>
    <dgm:cxn modelId="{57203682-9100-4DED-AE96-850C5A7719F4}" type="presParOf" srcId="{9766C981-34B4-4734-BDB3-8EB2BDD68B67}" destId="{159675E7-3D00-4F58-922B-2610E5EEF68C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CDB640-001E-4005-BCA6-6446DFDBF248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 phldr="1"/>
      <dgm:spPr/>
    </dgm:pt>
    <dgm:pt modelId="{50256246-167F-47CF-9B7A-487F631C8A9B}">
      <dgm:prSet phldrT="[Text]"/>
      <dgm:spPr/>
      <dgm:t>
        <a:bodyPr/>
        <a:lstStyle/>
        <a:p>
          <a:pPr>
            <a:buNone/>
          </a:pPr>
          <a:r>
            <a:rPr lang="en-IN" dirty="0"/>
            <a:t>Tokyo Weather Data</a:t>
          </a:r>
        </a:p>
      </dgm:t>
    </dgm:pt>
    <dgm:pt modelId="{525522F4-3FD8-4C36-8FB3-1EA8F8BD56C2}" type="parTrans" cxnId="{C837D16B-A528-481F-BE4B-B128E824A064}">
      <dgm:prSet/>
      <dgm:spPr/>
      <dgm:t>
        <a:bodyPr/>
        <a:lstStyle/>
        <a:p>
          <a:endParaRPr lang="en-IN"/>
        </a:p>
      </dgm:t>
    </dgm:pt>
    <dgm:pt modelId="{034485F4-E0F9-4A9C-B038-01ADF248B77C}" type="sibTrans" cxnId="{C837D16B-A528-481F-BE4B-B128E824A064}">
      <dgm:prSet/>
      <dgm:spPr/>
      <dgm:t>
        <a:bodyPr/>
        <a:lstStyle/>
        <a:p>
          <a:endParaRPr lang="en-IN"/>
        </a:p>
      </dgm:t>
    </dgm:pt>
    <dgm:pt modelId="{42C84A83-E680-432E-9CC3-F4894C47FE14}">
      <dgm:prSet phldrT="[Text]"/>
      <dgm:spPr/>
      <dgm:t>
        <a:bodyPr/>
        <a:lstStyle/>
        <a:p>
          <a:pPr>
            <a:buNone/>
          </a:pPr>
          <a:r>
            <a:rPr lang="en-IN" dirty="0"/>
            <a:t>Daily Aggregation</a:t>
          </a:r>
        </a:p>
      </dgm:t>
    </dgm:pt>
    <dgm:pt modelId="{55D46DA8-33B9-4B56-B763-4A9A8ABF6E8A}" type="parTrans" cxnId="{8D2F9DF3-4485-4CFC-9143-9A1CC2DA9BFA}">
      <dgm:prSet/>
      <dgm:spPr/>
      <dgm:t>
        <a:bodyPr/>
        <a:lstStyle/>
        <a:p>
          <a:endParaRPr lang="en-IN"/>
        </a:p>
      </dgm:t>
    </dgm:pt>
    <dgm:pt modelId="{A7813E33-73C9-4E34-8379-EE6FB4E22EBF}" type="sibTrans" cxnId="{8D2F9DF3-4485-4CFC-9143-9A1CC2DA9BFA}">
      <dgm:prSet/>
      <dgm:spPr/>
      <dgm:t>
        <a:bodyPr/>
        <a:lstStyle/>
        <a:p>
          <a:endParaRPr lang="en-IN"/>
        </a:p>
      </dgm:t>
    </dgm:pt>
    <dgm:pt modelId="{488FE38A-05C9-4B2B-9358-A8E6785D0E1F}">
      <dgm:prSet phldrT="[Text]"/>
      <dgm:spPr/>
      <dgm:t>
        <a:bodyPr/>
        <a:lstStyle/>
        <a:p>
          <a:pPr>
            <a:buNone/>
          </a:pPr>
          <a:r>
            <a:rPr lang="en-US" dirty="0"/>
            <a:t>Feature Engineering</a:t>
          </a:r>
          <a:br>
            <a:rPr lang="en-US" dirty="0"/>
          </a:br>
          <a:r>
            <a:rPr lang="en-US" dirty="0"/>
            <a:t>(Lag + Rolling Features)</a:t>
          </a:r>
          <a:endParaRPr lang="en-IN" dirty="0"/>
        </a:p>
      </dgm:t>
    </dgm:pt>
    <dgm:pt modelId="{01DCBF41-7E59-467D-8483-6FBE267541B1}" type="parTrans" cxnId="{12B9BA19-85D9-4D01-B525-2D0B8050A979}">
      <dgm:prSet/>
      <dgm:spPr/>
      <dgm:t>
        <a:bodyPr/>
        <a:lstStyle/>
        <a:p>
          <a:endParaRPr lang="en-IN"/>
        </a:p>
      </dgm:t>
    </dgm:pt>
    <dgm:pt modelId="{CA1E1C25-7B60-4121-92F2-7995B32C604B}" type="sibTrans" cxnId="{12B9BA19-85D9-4D01-B525-2D0B8050A979}">
      <dgm:prSet/>
      <dgm:spPr/>
      <dgm:t>
        <a:bodyPr/>
        <a:lstStyle/>
        <a:p>
          <a:endParaRPr lang="en-IN"/>
        </a:p>
      </dgm:t>
    </dgm:pt>
    <dgm:pt modelId="{1FE12360-43DE-4F50-AB4E-3050D60F7115}">
      <dgm:prSet phldrT="[Text]"/>
      <dgm:spPr/>
      <dgm:t>
        <a:bodyPr/>
        <a:lstStyle/>
        <a:p>
          <a:pPr>
            <a:buNone/>
          </a:pPr>
          <a:r>
            <a:rPr lang="en-IN" dirty="0"/>
            <a:t>Train/Test Split</a:t>
          </a:r>
        </a:p>
      </dgm:t>
    </dgm:pt>
    <dgm:pt modelId="{AD6125FE-F8EA-43B5-A24C-1BF7AB3A5CD8}" type="parTrans" cxnId="{61A1E86A-5932-4FF1-858B-2C99393E73B2}">
      <dgm:prSet/>
      <dgm:spPr/>
      <dgm:t>
        <a:bodyPr/>
        <a:lstStyle/>
        <a:p>
          <a:endParaRPr lang="en-IN"/>
        </a:p>
      </dgm:t>
    </dgm:pt>
    <dgm:pt modelId="{8F8098FB-F3DE-4827-A73E-8777D0425770}" type="sibTrans" cxnId="{61A1E86A-5932-4FF1-858B-2C99393E73B2}">
      <dgm:prSet/>
      <dgm:spPr/>
      <dgm:t>
        <a:bodyPr/>
        <a:lstStyle/>
        <a:p>
          <a:endParaRPr lang="en-IN"/>
        </a:p>
      </dgm:t>
    </dgm:pt>
    <dgm:pt modelId="{C1DEFD3E-2947-44ED-9C08-E2E4C3CFEBEB}">
      <dgm:prSet phldrT="[Text]"/>
      <dgm:spPr/>
      <dgm:t>
        <a:bodyPr/>
        <a:lstStyle/>
        <a:p>
          <a:pPr>
            <a:buNone/>
          </a:pPr>
          <a:r>
            <a:rPr lang="en-IN" dirty="0"/>
            <a:t>Forecasting Models</a:t>
          </a:r>
        </a:p>
      </dgm:t>
    </dgm:pt>
    <dgm:pt modelId="{D025BCC1-03C9-4D99-A63F-DDEB53615810}" type="parTrans" cxnId="{55795604-E68B-4C47-928E-095A1F18AE47}">
      <dgm:prSet/>
      <dgm:spPr/>
      <dgm:t>
        <a:bodyPr/>
        <a:lstStyle/>
        <a:p>
          <a:endParaRPr lang="en-IN"/>
        </a:p>
      </dgm:t>
    </dgm:pt>
    <dgm:pt modelId="{74883A3C-6A33-43CE-ABEC-C619BBCA0C99}" type="sibTrans" cxnId="{55795604-E68B-4C47-928E-095A1F18AE47}">
      <dgm:prSet/>
      <dgm:spPr/>
      <dgm:t>
        <a:bodyPr/>
        <a:lstStyle/>
        <a:p>
          <a:endParaRPr lang="en-IN"/>
        </a:p>
      </dgm:t>
    </dgm:pt>
    <dgm:pt modelId="{0169C491-3E95-4BA3-9EFA-1A8FDC9C2BB6}">
      <dgm:prSet phldrT="[Text]"/>
      <dgm:spPr/>
      <dgm:t>
        <a:bodyPr/>
        <a:lstStyle/>
        <a:p>
          <a:pPr>
            <a:buNone/>
          </a:pPr>
          <a:r>
            <a:rPr lang="en-IN" dirty="0"/>
            <a:t>Evaluation &amp; Comparison</a:t>
          </a:r>
        </a:p>
      </dgm:t>
    </dgm:pt>
    <dgm:pt modelId="{2E7EEE21-FBEE-42CE-9B60-01958F8A5780}" type="parTrans" cxnId="{9D1F9395-DF36-45C2-90D0-5F6621E1F70A}">
      <dgm:prSet/>
      <dgm:spPr/>
      <dgm:t>
        <a:bodyPr/>
        <a:lstStyle/>
        <a:p>
          <a:endParaRPr lang="en-IN"/>
        </a:p>
      </dgm:t>
    </dgm:pt>
    <dgm:pt modelId="{6EB0BF7D-06BF-48CC-BD26-C0504E3BBAC6}" type="sibTrans" cxnId="{9D1F9395-DF36-45C2-90D0-5F6621E1F70A}">
      <dgm:prSet/>
      <dgm:spPr/>
      <dgm:t>
        <a:bodyPr/>
        <a:lstStyle/>
        <a:p>
          <a:endParaRPr lang="en-IN"/>
        </a:p>
      </dgm:t>
    </dgm:pt>
    <dgm:pt modelId="{630EB11C-1D30-4F57-AB7A-2026B9F776D5}" type="pres">
      <dgm:prSet presAssocID="{E2CDB640-001E-4005-BCA6-6446DFDBF248}" presName="linearFlow" presStyleCnt="0">
        <dgm:presLayoutVars>
          <dgm:resizeHandles val="exact"/>
        </dgm:presLayoutVars>
      </dgm:prSet>
      <dgm:spPr/>
    </dgm:pt>
    <dgm:pt modelId="{197B1F0A-2887-42FC-B1AD-3B922D3C48B6}" type="pres">
      <dgm:prSet presAssocID="{50256246-167F-47CF-9B7A-487F631C8A9B}" presName="node" presStyleLbl="node1" presStyleIdx="0" presStyleCnt="6">
        <dgm:presLayoutVars>
          <dgm:bulletEnabled val="1"/>
        </dgm:presLayoutVars>
      </dgm:prSet>
      <dgm:spPr/>
    </dgm:pt>
    <dgm:pt modelId="{D2BBFB30-1BF4-4BCC-A471-C01D55594369}" type="pres">
      <dgm:prSet presAssocID="{034485F4-E0F9-4A9C-B038-01ADF248B77C}" presName="sibTrans" presStyleLbl="sibTrans2D1" presStyleIdx="0" presStyleCnt="5"/>
      <dgm:spPr/>
    </dgm:pt>
    <dgm:pt modelId="{EFAC9AA6-5C50-4C51-8C8D-0F4E28932754}" type="pres">
      <dgm:prSet presAssocID="{034485F4-E0F9-4A9C-B038-01ADF248B77C}" presName="connectorText" presStyleLbl="sibTrans2D1" presStyleIdx="0" presStyleCnt="5"/>
      <dgm:spPr/>
    </dgm:pt>
    <dgm:pt modelId="{2EB22F7C-86DC-42C9-8461-C184F314C609}" type="pres">
      <dgm:prSet presAssocID="{42C84A83-E680-432E-9CC3-F4894C47FE14}" presName="node" presStyleLbl="node1" presStyleIdx="1" presStyleCnt="6">
        <dgm:presLayoutVars>
          <dgm:bulletEnabled val="1"/>
        </dgm:presLayoutVars>
      </dgm:prSet>
      <dgm:spPr/>
    </dgm:pt>
    <dgm:pt modelId="{0505EA93-DBB1-4684-BA12-1185910AAADD}" type="pres">
      <dgm:prSet presAssocID="{A7813E33-73C9-4E34-8379-EE6FB4E22EBF}" presName="sibTrans" presStyleLbl="sibTrans2D1" presStyleIdx="1" presStyleCnt="5"/>
      <dgm:spPr/>
    </dgm:pt>
    <dgm:pt modelId="{45203ABD-2050-4B1C-A9C4-F358D7C4854F}" type="pres">
      <dgm:prSet presAssocID="{A7813E33-73C9-4E34-8379-EE6FB4E22EBF}" presName="connectorText" presStyleLbl="sibTrans2D1" presStyleIdx="1" presStyleCnt="5"/>
      <dgm:spPr/>
    </dgm:pt>
    <dgm:pt modelId="{00383424-8E2F-40C4-BF94-2F05BFF8E33F}" type="pres">
      <dgm:prSet presAssocID="{488FE38A-05C9-4B2B-9358-A8E6785D0E1F}" presName="node" presStyleLbl="node1" presStyleIdx="2" presStyleCnt="6">
        <dgm:presLayoutVars>
          <dgm:bulletEnabled val="1"/>
        </dgm:presLayoutVars>
      </dgm:prSet>
      <dgm:spPr/>
    </dgm:pt>
    <dgm:pt modelId="{694B0DFD-4976-4068-A9ED-97C26A5FB655}" type="pres">
      <dgm:prSet presAssocID="{CA1E1C25-7B60-4121-92F2-7995B32C604B}" presName="sibTrans" presStyleLbl="sibTrans2D1" presStyleIdx="2" presStyleCnt="5"/>
      <dgm:spPr/>
    </dgm:pt>
    <dgm:pt modelId="{940B011F-E6E8-43C8-A394-1BC0AAE90E02}" type="pres">
      <dgm:prSet presAssocID="{CA1E1C25-7B60-4121-92F2-7995B32C604B}" presName="connectorText" presStyleLbl="sibTrans2D1" presStyleIdx="2" presStyleCnt="5"/>
      <dgm:spPr/>
    </dgm:pt>
    <dgm:pt modelId="{F9D7AC19-DF40-490F-8CCB-78A2EA4180A7}" type="pres">
      <dgm:prSet presAssocID="{1FE12360-43DE-4F50-AB4E-3050D60F7115}" presName="node" presStyleLbl="node1" presStyleIdx="3" presStyleCnt="6">
        <dgm:presLayoutVars>
          <dgm:bulletEnabled val="1"/>
        </dgm:presLayoutVars>
      </dgm:prSet>
      <dgm:spPr/>
    </dgm:pt>
    <dgm:pt modelId="{223106DB-032A-4AA0-9FBC-8A7A79A2E659}" type="pres">
      <dgm:prSet presAssocID="{8F8098FB-F3DE-4827-A73E-8777D0425770}" presName="sibTrans" presStyleLbl="sibTrans2D1" presStyleIdx="3" presStyleCnt="5"/>
      <dgm:spPr/>
    </dgm:pt>
    <dgm:pt modelId="{DFFB02CD-6CDA-4090-B597-83911DAB9D45}" type="pres">
      <dgm:prSet presAssocID="{8F8098FB-F3DE-4827-A73E-8777D0425770}" presName="connectorText" presStyleLbl="sibTrans2D1" presStyleIdx="3" presStyleCnt="5"/>
      <dgm:spPr/>
    </dgm:pt>
    <dgm:pt modelId="{42A23F79-10F6-4500-82C9-D9097FE59142}" type="pres">
      <dgm:prSet presAssocID="{C1DEFD3E-2947-44ED-9C08-E2E4C3CFEBEB}" presName="node" presStyleLbl="node1" presStyleIdx="4" presStyleCnt="6">
        <dgm:presLayoutVars>
          <dgm:bulletEnabled val="1"/>
        </dgm:presLayoutVars>
      </dgm:prSet>
      <dgm:spPr/>
    </dgm:pt>
    <dgm:pt modelId="{64FB77BA-5623-4051-93D0-086AC9858C9F}" type="pres">
      <dgm:prSet presAssocID="{74883A3C-6A33-43CE-ABEC-C619BBCA0C99}" presName="sibTrans" presStyleLbl="sibTrans2D1" presStyleIdx="4" presStyleCnt="5"/>
      <dgm:spPr/>
    </dgm:pt>
    <dgm:pt modelId="{ADE52146-DD22-43F7-AADC-6A21CDE4C502}" type="pres">
      <dgm:prSet presAssocID="{74883A3C-6A33-43CE-ABEC-C619BBCA0C99}" presName="connectorText" presStyleLbl="sibTrans2D1" presStyleIdx="4" presStyleCnt="5"/>
      <dgm:spPr/>
    </dgm:pt>
    <dgm:pt modelId="{E3FDC0A9-7986-4149-82D5-A207E61A8DE7}" type="pres">
      <dgm:prSet presAssocID="{0169C491-3E95-4BA3-9EFA-1A8FDC9C2BB6}" presName="node" presStyleLbl="node1" presStyleIdx="5" presStyleCnt="6">
        <dgm:presLayoutVars>
          <dgm:bulletEnabled val="1"/>
        </dgm:presLayoutVars>
      </dgm:prSet>
      <dgm:spPr/>
    </dgm:pt>
  </dgm:ptLst>
  <dgm:cxnLst>
    <dgm:cxn modelId="{331E8303-16D1-4407-8B56-1352DB5278BA}" type="presOf" srcId="{42C84A83-E680-432E-9CC3-F4894C47FE14}" destId="{2EB22F7C-86DC-42C9-8461-C184F314C609}" srcOrd="0" destOrd="0" presId="urn:microsoft.com/office/officeart/2005/8/layout/process2"/>
    <dgm:cxn modelId="{55795604-E68B-4C47-928E-095A1F18AE47}" srcId="{E2CDB640-001E-4005-BCA6-6446DFDBF248}" destId="{C1DEFD3E-2947-44ED-9C08-E2E4C3CFEBEB}" srcOrd="4" destOrd="0" parTransId="{D025BCC1-03C9-4D99-A63F-DDEB53615810}" sibTransId="{74883A3C-6A33-43CE-ABEC-C619BBCA0C99}"/>
    <dgm:cxn modelId="{0011F50C-5891-4391-9167-F9FB54CE6E01}" type="presOf" srcId="{034485F4-E0F9-4A9C-B038-01ADF248B77C}" destId="{EFAC9AA6-5C50-4C51-8C8D-0F4E28932754}" srcOrd="1" destOrd="0" presId="urn:microsoft.com/office/officeart/2005/8/layout/process2"/>
    <dgm:cxn modelId="{12B9BA19-85D9-4D01-B525-2D0B8050A979}" srcId="{E2CDB640-001E-4005-BCA6-6446DFDBF248}" destId="{488FE38A-05C9-4B2B-9358-A8E6785D0E1F}" srcOrd="2" destOrd="0" parTransId="{01DCBF41-7E59-467D-8483-6FBE267541B1}" sibTransId="{CA1E1C25-7B60-4121-92F2-7995B32C604B}"/>
    <dgm:cxn modelId="{42543E21-5670-4F00-A627-507E24BDF377}" type="presOf" srcId="{034485F4-E0F9-4A9C-B038-01ADF248B77C}" destId="{D2BBFB30-1BF4-4BCC-A471-C01D55594369}" srcOrd="0" destOrd="0" presId="urn:microsoft.com/office/officeart/2005/8/layout/process2"/>
    <dgm:cxn modelId="{E3ACAD2D-FBE8-426E-8CE0-430202EDF1C5}" type="presOf" srcId="{CA1E1C25-7B60-4121-92F2-7995B32C604B}" destId="{940B011F-E6E8-43C8-A394-1BC0AAE90E02}" srcOrd="1" destOrd="0" presId="urn:microsoft.com/office/officeart/2005/8/layout/process2"/>
    <dgm:cxn modelId="{A3000241-ED85-42BD-9E2D-233CECFEE162}" type="presOf" srcId="{8F8098FB-F3DE-4827-A73E-8777D0425770}" destId="{223106DB-032A-4AA0-9FBC-8A7A79A2E659}" srcOrd="0" destOrd="0" presId="urn:microsoft.com/office/officeart/2005/8/layout/process2"/>
    <dgm:cxn modelId="{00756168-BAF2-41BA-83D4-DAE35A8981C0}" type="presOf" srcId="{E2CDB640-001E-4005-BCA6-6446DFDBF248}" destId="{630EB11C-1D30-4F57-AB7A-2026B9F776D5}" srcOrd="0" destOrd="0" presId="urn:microsoft.com/office/officeart/2005/8/layout/process2"/>
    <dgm:cxn modelId="{61A1E86A-5932-4FF1-858B-2C99393E73B2}" srcId="{E2CDB640-001E-4005-BCA6-6446DFDBF248}" destId="{1FE12360-43DE-4F50-AB4E-3050D60F7115}" srcOrd="3" destOrd="0" parTransId="{AD6125FE-F8EA-43B5-A24C-1BF7AB3A5CD8}" sibTransId="{8F8098FB-F3DE-4827-A73E-8777D0425770}"/>
    <dgm:cxn modelId="{C837D16B-A528-481F-BE4B-B128E824A064}" srcId="{E2CDB640-001E-4005-BCA6-6446DFDBF248}" destId="{50256246-167F-47CF-9B7A-487F631C8A9B}" srcOrd="0" destOrd="0" parTransId="{525522F4-3FD8-4C36-8FB3-1EA8F8BD56C2}" sibTransId="{034485F4-E0F9-4A9C-B038-01ADF248B77C}"/>
    <dgm:cxn modelId="{53AE6A7A-CEBA-4504-B57D-642CABC61DDE}" type="presOf" srcId="{C1DEFD3E-2947-44ED-9C08-E2E4C3CFEBEB}" destId="{42A23F79-10F6-4500-82C9-D9097FE59142}" srcOrd="0" destOrd="0" presId="urn:microsoft.com/office/officeart/2005/8/layout/process2"/>
    <dgm:cxn modelId="{B6F2CA5A-4AAA-4CC5-BC4A-932B73B71B8B}" type="presOf" srcId="{A7813E33-73C9-4E34-8379-EE6FB4E22EBF}" destId="{0505EA93-DBB1-4684-BA12-1185910AAADD}" srcOrd="0" destOrd="0" presId="urn:microsoft.com/office/officeart/2005/8/layout/process2"/>
    <dgm:cxn modelId="{0730817F-FF4C-4221-8603-B7EE541ACE94}" type="presOf" srcId="{0169C491-3E95-4BA3-9EFA-1A8FDC9C2BB6}" destId="{E3FDC0A9-7986-4149-82D5-A207E61A8DE7}" srcOrd="0" destOrd="0" presId="urn:microsoft.com/office/officeart/2005/8/layout/process2"/>
    <dgm:cxn modelId="{0B556093-2193-42C9-BBD9-F9D82C242649}" type="presOf" srcId="{CA1E1C25-7B60-4121-92F2-7995B32C604B}" destId="{694B0DFD-4976-4068-A9ED-97C26A5FB655}" srcOrd="0" destOrd="0" presId="urn:microsoft.com/office/officeart/2005/8/layout/process2"/>
    <dgm:cxn modelId="{9D1F9395-DF36-45C2-90D0-5F6621E1F70A}" srcId="{E2CDB640-001E-4005-BCA6-6446DFDBF248}" destId="{0169C491-3E95-4BA3-9EFA-1A8FDC9C2BB6}" srcOrd="5" destOrd="0" parTransId="{2E7EEE21-FBEE-42CE-9B60-01958F8A5780}" sibTransId="{6EB0BF7D-06BF-48CC-BD26-C0504E3BBAC6}"/>
    <dgm:cxn modelId="{C52907A2-4133-491B-937A-8823CD2A8105}" type="presOf" srcId="{A7813E33-73C9-4E34-8379-EE6FB4E22EBF}" destId="{45203ABD-2050-4B1C-A9C4-F358D7C4854F}" srcOrd="1" destOrd="0" presId="urn:microsoft.com/office/officeart/2005/8/layout/process2"/>
    <dgm:cxn modelId="{7F7C95AE-CCD1-45B1-B911-0FAA4446B2AE}" type="presOf" srcId="{74883A3C-6A33-43CE-ABEC-C619BBCA0C99}" destId="{ADE52146-DD22-43F7-AADC-6A21CDE4C502}" srcOrd="1" destOrd="0" presId="urn:microsoft.com/office/officeart/2005/8/layout/process2"/>
    <dgm:cxn modelId="{DFEFB5B0-1068-4BB1-9F5A-FD8A0AB97712}" type="presOf" srcId="{1FE12360-43DE-4F50-AB4E-3050D60F7115}" destId="{F9D7AC19-DF40-490F-8CCB-78A2EA4180A7}" srcOrd="0" destOrd="0" presId="urn:microsoft.com/office/officeart/2005/8/layout/process2"/>
    <dgm:cxn modelId="{0486BCD4-9F6E-4C38-810F-1BA8489D2247}" type="presOf" srcId="{74883A3C-6A33-43CE-ABEC-C619BBCA0C99}" destId="{64FB77BA-5623-4051-93D0-086AC9858C9F}" srcOrd="0" destOrd="0" presId="urn:microsoft.com/office/officeart/2005/8/layout/process2"/>
    <dgm:cxn modelId="{C9A470E6-5C0B-48A2-99E2-9F53C49EEF0C}" type="presOf" srcId="{50256246-167F-47CF-9B7A-487F631C8A9B}" destId="{197B1F0A-2887-42FC-B1AD-3B922D3C48B6}" srcOrd="0" destOrd="0" presId="urn:microsoft.com/office/officeart/2005/8/layout/process2"/>
    <dgm:cxn modelId="{5F0DFDE9-4916-4F75-A47A-D3ED5CF5C232}" type="presOf" srcId="{8F8098FB-F3DE-4827-A73E-8777D0425770}" destId="{DFFB02CD-6CDA-4090-B597-83911DAB9D45}" srcOrd="1" destOrd="0" presId="urn:microsoft.com/office/officeart/2005/8/layout/process2"/>
    <dgm:cxn modelId="{8D2F9DF3-4485-4CFC-9143-9A1CC2DA9BFA}" srcId="{E2CDB640-001E-4005-BCA6-6446DFDBF248}" destId="{42C84A83-E680-432E-9CC3-F4894C47FE14}" srcOrd="1" destOrd="0" parTransId="{55D46DA8-33B9-4B56-B763-4A9A8ABF6E8A}" sibTransId="{A7813E33-73C9-4E34-8379-EE6FB4E22EBF}"/>
    <dgm:cxn modelId="{81F471FB-40C1-42C5-9AD1-A1A3FA107E64}" type="presOf" srcId="{488FE38A-05C9-4B2B-9358-A8E6785D0E1F}" destId="{00383424-8E2F-40C4-BF94-2F05BFF8E33F}" srcOrd="0" destOrd="0" presId="urn:microsoft.com/office/officeart/2005/8/layout/process2"/>
    <dgm:cxn modelId="{1CD513E2-6A2C-45D4-A8D8-954F5F4DD49A}" type="presParOf" srcId="{630EB11C-1D30-4F57-AB7A-2026B9F776D5}" destId="{197B1F0A-2887-42FC-B1AD-3B922D3C48B6}" srcOrd="0" destOrd="0" presId="urn:microsoft.com/office/officeart/2005/8/layout/process2"/>
    <dgm:cxn modelId="{AE0C6B8A-0D44-4FF2-8CAC-2A4768C22320}" type="presParOf" srcId="{630EB11C-1D30-4F57-AB7A-2026B9F776D5}" destId="{D2BBFB30-1BF4-4BCC-A471-C01D55594369}" srcOrd="1" destOrd="0" presId="urn:microsoft.com/office/officeart/2005/8/layout/process2"/>
    <dgm:cxn modelId="{6FC06570-42E8-4F32-AAE1-5D51FE2BD28C}" type="presParOf" srcId="{D2BBFB30-1BF4-4BCC-A471-C01D55594369}" destId="{EFAC9AA6-5C50-4C51-8C8D-0F4E28932754}" srcOrd="0" destOrd="0" presId="urn:microsoft.com/office/officeart/2005/8/layout/process2"/>
    <dgm:cxn modelId="{36C7A452-342E-46E2-AEFA-3B1124B4B2AE}" type="presParOf" srcId="{630EB11C-1D30-4F57-AB7A-2026B9F776D5}" destId="{2EB22F7C-86DC-42C9-8461-C184F314C609}" srcOrd="2" destOrd="0" presId="urn:microsoft.com/office/officeart/2005/8/layout/process2"/>
    <dgm:cxn modelId="{55B6B287-71B6-4F6A-8334-68D2CAE65F5F}" type="presParOf" srcId="{630EB11C-1D30-4F57-AB7A-2026B9F776D5}" destId="{0505EA93-DBB1-4684-BA12-1185910AAADD}" srcOrd="3" destOrd="0" presId="urn:microsoft.com/office/officeart/2005/8/layout/process2"/>
    <dgm:cxn modelId="{54C44891-1AAE-46CA-8F1D-80D6E83C13F4}" type="presParOf" srcId="{0505EA93-DBB1-4684-BA12-1185910AAADD}" destId="{45203ABD-2050-4B1C-A9C4-F358D7C4854F}" srcOrd="0" destOrd="0" presId="urn:microsoft.com/office/officeart/2005/8/layout/process2"/>
    <dgm:cxn modelId="{08E9785C-4FBD-4AB0-8C24-A5D6EDEC6654}" type="presParOf" srcId="{630EB11C-1D30-4F57-AB7A-2026B9F776D5}" destId="{00383424-8E2F-40C4-BF94-2F05BFF8E33F}" srcOrd="4" destOrd="0" presId="urn:microsoft.com/office/officeart/2005/8/layout/process2"/>
    <dgm:cxn modelId="{B19D755A-1D1F-4ED6-BE97-A998F9E119AB}" type="presParOf" srcId="{630EB11C-1D30-4F57-AB7A-2026B9F776D5}" destId="{694B0DFD-4976-4068-A9ED-97C26A5FB655}" srcOrd="5" destOrd="0" presId="urn:microsoft.com/office/officeart/2005/8/layout/process2"/>
    <dgm:cxn modelId="{77E9D98E-7CEB-48DC-AD2E-C6625D5B23F5}" type="presParOf" srcId="{694B0DFD-4976-4068-A9ED-97C26A5FB655}" destId="{940B011F-E6E8-43C8-A394-1BC0AAE90E02}" srcOrd="0" destOrd="0" presId="urn:microsoft.com/office/officeart/2005/8/layout/process2"/>
    <dgm:cxn modelId="{442BA5E3-ECB4-4AA2-B4DC-F5FA9017B2B7}" type="presParOf" srcId="{630EB11C-1D30-4F57-AB7A-2026B9F776D5}" destId="{F9D7AC19-DF40-490F-8CCB-78A2EA4180A7}" srcOrd="6" destOrd="0" presId="urn:microsoft.com/office/officeart/2005/8/layout/process2"/>
    <dgm:cxn modelId="{780B70BE-CD83-4223-9485-3673AC7A3367}" type="presParOf" srcId="{630EB11C-1D30-4F57-AB7A-2026B9F776D5}" destId="{223106DB-032A-4AA0-9FBC-8A7A79A2E659}" srcOrd="7" destOrd="0" presId="urn:microsoft.com/office/officeart/2005/8/layout/process2"/>
    <dgm:cxn modelId="{FE1A92DC-BFBA-4089-A673-CE46A47814A5}" type="presParOf" srcId="{223106DB-032A-4AA0-9FBC-8A7A79A2E659}" destId="{DFFB02CD-6CDA-4090-B597-83911DAB9D45}" srcOrd="0" destOrd="0" presId="urn:microsoft.com/office/officeart/2005/8/layout/process2"/>
    <dgm:cxn modelId="{A3693BE3-E562-459D-8FD4-35361934CFBC}" type="presParOf" srcId="{630EB11C-1D30-4F57-AB7A-2026B9F776D5}" destId="{42A23F79-10F6-4500-82C9-D9097FE59142}" srcOrd="8" destOrd="0" presId="urn:microsoft.com/office/officeart/2005/8/layout/process2"/>
    <dgm:cxn modelId="{FC651303-59EC-4842-9EE4-3540F1220FB5}" type="presParOf" srcId="{630EB11C-1D30-4F57-AB7A-2026B9F776D5}" destId="{64FB77BA-5623-4051-93D0-086AC9858C9F}" srcOrd="9" destOrd="0" presId="urn:microsoft.com/office/officeart/2005/8/layout/process2"/>
    <dgm:cxn modelId="{CD5AB475-36B7-421B-8AE0-22FD1EF6C23D}" type="presParOf" srcId="{64FB77BA-5623-4051-93D0-086AC9858C9F}" destId="{ADE52146-DD22-43F7-AADC-6A21CDE4C502}" srcOrd="0" destOrd="0" presId="urn:microsoft.com/office/officeart/2005/8/layout/process2"/>
    <dgm:cxn modelId="{00C0BC51-12D9-43C8-8C04-0D02E88AE2DA}" type="presParOf" srcId="{630EB11C-1D30-4F57-AB7A-2026B9F776D5}" destId="{E3FDC0A9-7986-4149-82D5-A207E61A8DE7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9C7D0-7127-405F-8C27-9DEB9F131AA0}">
      <dsp:nvSpPr>
        <dsp:cNvPr id="0" name=""/>
        <dsp:cNvSpPr/>
      </dsp:nvSpPr>
      <dsp:spPr>
        <a:xfrm>
          <a:off x="1241635" y="580"/>
          <a:ext cx="1410303" cy="679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Raw Data</a:t>
          </a:r>
        </a:p>
      </dsp:txBody>
      <dsp:txXfrm>
        <a:off x="1261542" y="20487"/>
        <a:ext cx="1370489" cy="639850"/>
      </dsp:txXfrm>
    </dsp:sp>
    <dsp:sp modelId="{025B0BEE-B17C-4E33-8DA4-7770C2503F47}">
      <dsp:nvSpPr>
        <dsp:cNvPr id="0" name=""/>
        <dsp:cNvSpPr/>
      </dsp:nvSpPr>
      <dsp:spPr>
        <a:xfrm rot="5400000">
          <a:off x="1819350" y="697236"/>
          <a:ext cx="254874" cy="3058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1855033" y="722723"/>
        <a:ext cx="183508" cy="178412"/>
      </dsp:txXfrm>
    </dsp:sp>
    <dsp:sp modelId="{9F16D7C9-97F8-48CA-BB74-6C876681927D}">
      <dsp:nvSpPr>
        <dsp:cNvPr id="0" name=""/>
        <dsp:cNvSpPr/>
      </dsp:nvSpPr>
      <dsp:spPr>
        <a:xfrm>
          <a:off x="1241635" y="1020077"/>
          <a:ext cx="1410303" cy="679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Cleaning</a:t>
          </a:r>
        </a:p>
      </dsp:txBody>
      <dsp:txXfrm>
        <a:off x="1261542" y="1039984"/>
        <a:ext cx="1370489" cy="639850"/>
      </dsp:txXfrm>
    </dsp:sp>
    <dsp:sp modelId="{0D8473FD-0522-4FAD-A7D0-5542F3BB310A}">
      <dsp:nvSpPr>
        <dsp:cNvPr id="0" name=""/>
        <dsp:cNvSpPr/>
      </dsp:nvSpPr>
      <dsp:spPr>
        <a:xfrm rot="5400000">
          <a:off x="1819350" y="1716733"/>
          <a:ext cx="254874" cy="3058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1855033" y="1742220"/>
        <a:ext cx="183508" cy="178412"/>
      </dsp:txXfrm>
    </dsp:sp>
    <dsp:sp modelId="{A59C2093-C6ED-4B38-8FD4-5F69EEF07C1E}">
      <dsp:nvSpPr>
        <dsp:cNvPr id="0" name=""/>
        <dsp:cNvSpPr/>
      </dsp:nvSpPr>
      <dsp:spPr>
        <a:xfrm>
          <a:off x="1241635" y="2039573"/>
          <a:ext cx="1410303" cy="679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Feature Engineering</a:t>
          </a:r>
        </a:p>
      </dsp:txBody>
      <dsp:txXfrm>
        <a:off x="1261542" y="2059480"/>
        <a:ext cx="1370489" cy="639850"/>
      </dsp:txXfrm>
    </dsp:sp>
    <dsp:sp modelId="{6864FED6-FC7B-4CC0-8001-D9397D82E8D8}">
      <dsp:nvSpPr>
        <dsp:cNvPr id="0" name=""/>
        <dsp:cNvSpPr/>
      </dsp:nvSpPr>
      <dsp:spPr>
        <a:xfrm rot="5400000">
          <a:off x="1819350" y="2736229"/>
          <a:ext cx="254874" cy="3058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1855033" y="2761716"/>
        <a:ext cx="183508" cy="178412"/>
      </dsp:txXfrm>
    </dsp:sp>
    <dsp:sp modelId="{27BD67CF-47A5-4CE4-A7F2-EF6FAFD59A55}">
      <dsp:nvSpPr>
        <dsp:cNvPr id="0" name=""/>
        <dsp:cNvSpPr/>
      </dsp:nvSpPr>
      <dsp:spPr>
        <a:xfrm>
          <a:off x="1241635" y="3059070"/>
          <a:ext cx="1410303" cy="679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EDA &amp; Analysis</a:t>
          </a:r>
        </a:p>
      </dsp:txBody>
      <dsp:txXfrm>
        <a:off x="1261542" y="3078977"/>
        <a:ext cx="1370489" cy="639850"/>
      </dsp:txXfrm>
    </dsp:sp>
    <dsp:sp modelId="{BBD41EFE-38CD-4BAA-8251-5EC176E4017C}">
      <dsp:nvSpPr>
        <dsp:cNvPr id="0" name=""/>
        <dsp:cNvSpPr/>
      </dsp:nvSpPr>
      <dsp:spPr>
        <a:xfrm rot="5400000">
          <a:off x="1819350" y="3755726"/>
          <a:ext cx="254874" cy="3058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1855033" y="3781213"/>
        <a:ext cx="183508" cy="178412"/>
      </dsp:txXfrm>
    </dsp:sp>
    <dsp:sp modelId="{159675E7-3D00-4F58-922B-2610E5EEF68C}">
      <dsp:nvSpPr>
        <dsp:cNvPr id="0" name=""/>
        <dsp:cNvSpPr/>
      </dsp:nvSpPr>
      <dsp:spPr>
        <a:xfrm>
          <a:off x="1241635" y="4078566"/>
          <a:ext cx="1410303" cy="6796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Forecasting Models</a:t>
          </a:r>
        </a:p>
      </dsp:txBody>
      <dsp:txXfrm>
        <a:off x="1261542" y="4098473"/>
        <a:ext cx="1370489" cy="639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7B1F0A-2887-42FC-B1AD-3B922D3C48B6}">
      <dsp:nvSpPr>
        <dsp:cNvPr id="0" name=""/>
        <dsp:cNvSpPr/>
      </dsp:nvSpPr>
      <dsp:spPr>
        <a:xfrm>
          <a:off x="1665722" y="1928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Tokyo Weather Data</a:t>
          </a:r>
        </a:p>
      </dsp:txBody>
      <dsp:txXfrm>
        <a:off x="1682463" y="18669"/>
        <a:ext cx="2134889" cy="538082"/>
      </dsp:txXfrm>
    </dsp:sp>
    <dsp:sp modelId="{D2BBFB30-1BF4-4BCC-A471-C01D55594369}">
      <dsp:nvSpPr>
        <dsp:cNvPr id="0" name=""/>
        <dsp:cNvSpPr/>
      </dsp:nvSpPr>
      <dsp:spPr>
        <a:xfrm rot="5400000">
          <a:off x="2642740" y="587782"/>
          <a:ext cx="214336" cy="257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672748" y="609216"/>
        <a:ext cx="154321" cy="150035"/>
      </dsp:txXfrm>
    </dsp:sp>
    <dsp:sp modelId="{2EB22F7C-86DC-42C9-8461-C184F314C609}">
      <dsp:nvSpPr>
        <dsp:cNvPr id="0" name=""/>
        <dsp:cNvSpPr/>
      </dsp:nvSpPr>
      <dsp:spPr>
        <a:xfrm>
          <a:off x="1665722" y="859275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Daily Aggregation</a:t>
          </a:r>
        </a:p>
      </dsp:txBody>
      <dsp:txXfrm>
        <a:off x="1682463" y="876016"/>
        <a:ext cx="2134889" cy="538082"/>
      </dsp:txXfrm>
    </dsp:sp>
    <dsp:sp modelId="{0505EA93-DBB1-4684-BA12-1185910AAADD}">
      <dsp:nvSpPr>
        <dsp:cNvPr id="0" name=""/>
        <dsp:cNvSpPr/>
      </dsp:nvSpPr>
      <dsp:spPr>
        <a:xfrm rot="5400000">
          <a:off x="2642740" y="1445128"/>
          <a:ext cx="214336" cy="257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672748" y="1466562"/>
        <a:ext cx="154321" cy="150035"/>
      </dsp:txXfrm>
    </dsp:sp>
    <dsp:sp modelId="{00383424-8E2F-40C4-BF94-2F05BFF8E33F}">
      <dsp:nvSpPr>
        <dsp:cNvPr id="0" name=""/>
        <dsp:cNvSpPr/>
      </dsp:nvSpPr>
      <dsp:spPr>
        <a:xfrm>
          <a:off x="1665722" y="1716621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Feature Engineering</a:t>
          </a:r>
          <a:br>
            <a:rPr lang="en-US" sz="1500" kern="1200" dirty="0"/>
          </a:br>
          <a:r>
            <a:rPr lang="en-US" sz="1500" kern="1200" dirty="0"/>
            <a:t>(Lag + Rolling Features)</a:t>
          </a:r>
          <a:endParaRPr lang="en-IN" sz="1500" kern="1200" dirty="0"/>
        </a:p>
      </dsp:txBody>
      <dsp:txXfrm>
        <a:off x="1682463" y="1733362"/>
        <a:ext cx="2134889" cy="538082"/>
      </dsp:txXfrm>
    </dsp:sp>
    <dsp:sp modelId="{694B0DFD-4976-4068-A9ED-97C26A5FB655}">
      <dsp:nvSpPr>
        <dsp:cNvPr id="0" name=""/>
        <dsp:cNvSpPr/>
      </dsp:nvSpPr>
      <dsp:spPr>
        <a:xfrm rot="5400000">
          <a:off x="2642740" y="2302475"/>
          <a:ext cx="214336" cy="257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672748" y="2323909"/>
        <a:ext cx="154321" cy="150035"/>
      </dsp:txXfrm>
    </dsp:sp>
    <dsp:sp modelId="{F9D7AC19-DF40-490F-8CCB-78A2EA4180A7}">
      <dsp:nvSpPr>
        <dsp:cNvPr id="0" name=""/>
        <dsp:cNvSpPr/>
      </dsp:nvSpPr>
      <dsp:spPr>
        <a:xfrm>
          <a:off x="1665722" y="2573968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Train/Test Split</a:t>
          </a:r>
        </a:p>
      </dsp:txBody>
      <dsp:txXfrm>
        <a:off x="1682463" y="2590709"/>
        <a:ext cx="2134889" cy="538082"/>
      </dsp:txXfrm>
    </dsp:sp>
    <dsp:sp modelId="{223106DB-032A-4AA0-9FBC-8A7A79A2E659}">
      <dsp:nvSpPr>
        <dsp:cNvPr id="0" name=""/>
        <dsp:cNvSpPr/>
      </dsp:nvSpPr>
      <dsp:spPr>
        <a:xfrm rot="5400000">
          <a:off x="2642740" y="3159821"/>
          <a:ext cx="214336" cy="257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672748" y="3181255"/>
        <a:ext cx="154321" cy="150035"/>
      </dsp:txXfrm>
    </dsp:sp>
    <dsp:sp modelId="{42A23F79-10F6-4500-82C9-D9097FE59142}">
      <dsp:nvSpPr>
        <dsp:cNvPr id="0" name=""/>
        <dsp:cNvSpPr/>
      </dsp:nvSpPr>
      <dsp:spPr>
        <a:xfrm>
          <a:off x="1665722" y="3431314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Forecasting Models</a:t>
          </a:r>
        </a:p>
      </dsp:txBody>
      <dsp:txXfrm>
        <a:off x="1682463" y="3448055"/>
        <a:ext cx="2134889" cy="538082"/>
      </dsp:txXfrm>
    </dsp:sp>
    <dsp:sp modelId="{64FB77BA-5623-4051-93D0-086AC9858C9F}">
      <dsp:nvSpPr>
        <dsp:cNvPr id="0" name=""/>
        <dsp:cNvSpPr/>
      </dsp:nvSpPr>
      <dsp:spPr>
        <a:xfrm rot="5400000">
          <a:off x="2642740" y="4017167"/>
          <a:ext cx="214336" cy="257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2672748" y="4038601"/>
        <a:ext cx="154321" cy="150035"/>
      </dsp:txXfrm>
    </dsp:sp>
    <dsp:sp modelId="{E3FDC0A9-7986-4149-82D5-A207E61A8DE7}">
      <dsp:nvSpPr>
        <dsp:cNvPr id="0" name=""/>
        <dsp:cNvSpPr/>
      </dsp:nvSpPr>
      <dsp:spPr>
        <a:xfrm>
          <a:off x="1665722" y="4288660"/>
          <a:ext cx="2168371" cy="5715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Evaluation &amp; Comparison</a:t>
          </a:r>
        </a:p>
      </dsp:txBody>
      <dsp:txXfrm>
        <a:off x="1682463" y="4305401"/>
        <a:ext cx="2134889" cy="538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8641-CB1A-4A9F-A7EB-AE1ED1F0B5A3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EBD41-7000-4D87-9966-235C411B3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EBD41-7000-4D87-9966-235C411B375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353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80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696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959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37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3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96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688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25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08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2418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82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767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241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96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58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FDEB5-8341-45F1-A663-BB597D9D3C81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9532EE-48D9-44B4-80CC-276A6DB38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03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FFD6-768B-7734-BB82-5FE892DD8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365280"/>
            <a:ext cx="9311148" cy="2387600"/>
          </a:xfrm>
        </p:spPr>
        <p:txBody>
          <a:bodyPr>
            <a:normAutofit fontScale="90000"/>
          </a:bodyPr>
          <a:lstStyle/>
          <a:p>
            <a:r>
              <a:rPr lang="en-US" sz="5200" b="1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Global Weather Trend Forecasting and Climate Analysis</a:t>
            </a:r>
            <a:endParaRPr lang="en-IN" sz="5200" b="1" dirty="0">
              <a:solidFill>
                <a:schemeClr val="accent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2F10C-FF32-BE93-8B12-E3EB2367F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01180"/>
            <a:ext cx="9144000" cy="2784987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Data Science - Technical Assessment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Rahul Pandey</a:t>
            </a:r>
          </a:p>
          <a:p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Role Applied: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Data Scientist</a:t>
            </a:r>
          </a:p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GitHub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: github.com/rahul-9k</a:t>
            </a:r>
          </a:p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LinkedIn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: linkedin.com/in/rahulpandey9k</a:t>
            </a:r>
          </a:p>
        </p:txBody>
      </p:sp>
    </p:spTree>
    <p:extLst>
      <p:ext uri="{BB962C8B-B14F-4D97-AF65-F5344CB8AC3E}">
        <p14:creationId xmlns:p14="http://schemas.microsoft.com/office/powerpoint/2010/main" val="3712182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98C7-8640-A3AC-1395-B039F180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223DA2-3C15-9F4E-152F-A5577C24C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33831"/>
            <a:ext cx="6408175" cy="4643131"/>
          </a:xfrm>
        </p:spPr>
        <p:txBody>
          <a:bodyPr>
            <a:normAutofit/>
          </a:bodyPr>
          <a:lstStyle/>
          <a:p>
            <a:r>
              <a:rPr lang="en-US" sz="2400" dirty="0"/>
              <a:t>Analyzed global weather and environmental data</a:t>
            </a:r>
          </a:p>
          <a:p>
            <a:r>
              <a:rPr lang="en-US" sz="2400" dirty="0"/>
              <a:t>Performed exploratory and advanced climate analysis</a:t>
            </a:r>
          </a:p>
          <a:p>
            <a:r>
              <a:rPr lang="en-US" sz="2400" dirty="0"/>
              <a:t>Built multiple forecasting models for temperature prediction</a:t>
            </a:r>
          </a:p>
          <a:p>
            <a:r>
              <a:rPr lang="en-US" sz="2400" dirty="0"/>
              <a:t>Conducted anomaly detection and spatial analysis</a:t>
            </a:r>
          </a:p>
          <a:p>
            <a:r>
              <a:rPr lang="en-US" sz="2400" dirty="0"/>
              <a:t>Compared forecasting performance using multiple metrics</a:t>
            </a:r>
            <a:endParaRPr lang="en-IN" sz="2400" dirty="0"/>
          </a:p>
        </p:txBody>
      </p:sp>
      <p:pic>
        <p:nvPicPr>
          <p:cNvPr id="1026" name="Picture 2" descr="melting earth. global warming globe water concept sphere environment - global climate change stock pictures, royalty-free photos &amp; images">
            <a:extLst>
              <a:ext uri="{FF2B5EF4-FFF2-40B4-BE49-F238E27FC236}">
                <a16:creationId xmlns:a16="http://schemas.microsoft.com/office/drawing/2014/main" id="{8D2F350E-C674-9387-EF7E-63411C8183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434" y="1685197"/>
            <a:ext cx="4410967" cy="38487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319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9A4D-6DA5-77FB-13A4-03139551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2955"/>
            <a:ext cx="8596668" cy="90456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5496B-8DB3-E0D8-337F-8DEAEC0DA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0762"/>
            <a:ext cx="8596668" cy="5024283"/>
          </a:xfrm>
        </p:spPr>
        <p:txBody>
          <a:bodyPr>
            <a:normAutofit/>
          </a:bodyPr>
          <a:lstStyle/>
          <a:p>
            <a:r>
              <a:rPr lang="en-US" dirty="0"/>
              <a:t>Dataset: Global Weather Repository (Kaggle)</a:t>
            </a:r>
          </a:p>
          <a:p>
            <a:r>
              <a:rPr lang="en-US" dirty="0"/>
              <a:t>Total Records: ~140,000</a:t>
            </a:r>
          </a:p>
          <a:p>
            <a:r>
              <a:rPr lang="en-US" dirty="0"/>
              <a:t>Features: 50+ weather and environmental variables</a:t>
            </a:r>
          </a:p>
          <a:p>
            <a:r>
              <a:rPr lang="en-US" dirty="0"/>
              <a:t>Time Range: May 2024 – May 2026</a:t>
            </a:r>
          </a:p>
          <a:p>
            <a:r>
              <a:rPr lang="en-US" dirty="0"/>
              <a:t>Global coverage across multiple countries and cities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Feature Categories:</a:t>
            </a:r>
            <a:endParaRPr lang="en-US" dirty="0"/>
          </a:p>
          <a:p>
            <a:r>
              <a:rPr lang="en-US" dirty="0"/>
              <a:t>Weather Features: Temperature, Humidity, Wind, Pressure</a:t>
            </a:r>
          </a:p>
          <a:p>
            <a:r>
              <a:rPr lang="en-US" dirty="0"/>
              <a:t>Environmental Features: PM2.5, PM10, Ozone, CO</a:t>
            </a:r>
          </a:p>
          <a:p>
            <a:r>
              <a:rPr lang="en-US" dirty="0"/>
              <a:t>Geographical Features: Country, Latitude, Longitude</a:t>
            </a:r>
          </a:p>
          <a:p>
            <a:r>
              <a:rPr lang="en-US" dirty="0"/>
              <a:t>Temporal Features: Month, Season, Day, Hour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 descr="Kaggle icon">
            <a:extLst>
              <a:ext uri="{FF2B5EF4-FFF2-40B4-BE49-F238E27FC236}">
                <a16:creationId xmlns:a16="http://schemas.microsoft.com/office/drawing/2014/main" id="{F7E08E13-AE7B-BCE9-FB9E-034B82C2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342" y="1622322"/>
            <a:ext cx="3904498" cy="3904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242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5311-0CF6-DBEB-ADCE-669D7402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3626"/>
            <a:ext cx="8596668" cy="83574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Data Cleaning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9055-5857-A7C2-0524-6FC6280BE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6349"/>
            <a:ext cx="7542434" cy="4975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Preprocessing Steps:</a:t>
            </a:r>
          </a:p>
          <a:p>
            <a:r>
              <a:rPr lang="en-US" dirty="0"/>
              <a:t>Checked missing values and duplicates</a:t>
            </a:r>
          </a:p>
          <a:p>
            <a:r>
              <a:rPr lang="en-US" dirty="0"/>
              <a:t>Converted timestamps into datetime format</a:t>
            </a:r>
          </a:p>
          <a:p>
            <a:r>
              <a:rPr lang="en-US" dirty="0"/>
              <a:t>Extracted temporal features</a:t>
            </a:r>
          </a:p>
          <a:p>
            <a:r>
              <a:rPr lang="en-US" dirty="0"/>
              <a:t>Performed outlier analysis</a:t>
            </a:r>
          </a:p>
          <a:p>
            <a:r>
              <a:rPr lang="en-US" dirty="0"/>
              <a:t>Created seasonal indicators</a:t>
            </a:r>
          </a:p>
          <a:p>
            <a:r>
              <a:rPr lang="en-US" dirty="0"/>
              <a:t>Generated lag and rolling features for forecasting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Insight:</a:t>
            </a:r>
          </a:p>
          <a:p>
            <a:r>
              <a:rPr lang="en-US" dirty="0"/>
              <a:t>Extreme environmental observations were retained because weather data naturally contains meaningful anomalies such as storms, pollution spikes, and heavy rainfall events.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09D52A9-AE41-FF48-7871-A0F9810658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100417"/>
              </p:ext>
            </p:extLst>
          </p:nvPr>
        </p:nvGraphicFramePr>
        <p:xfrm>
          <a:off x="7327214" y="1386349"/>
          <a:ext cx="3893575" cy="4758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567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97D5-A474-7769-E787-548A7F15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291"/>
            <a:ext cx="8596668" cy="87507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Temperature Distribution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B317B2-9B01-BA78-17B9-84717A9238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4" y="1488613"/>
            <a:ext cx="6211612" cy="3368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B5229B-1703-D69F-7249-5E5C1D66C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1488613"/>
            <a:ext cx="4184034" cy="3880773"/>
          </a:xfrm>
        </p:spPr>
        <p:txBody>
          <a:bodyPr>
            <a:normAutofit/>
          </a:bodyPr>
          <a:lstStyle/>
          <a:p>
            <a:r>
              <a:rPr lang="en-US" dirty="0"/>
              <a:t>Most temperature observations fall between 15°C and 30°C</a:t>
            </a:r>
          </a:p>
          <a:p>
            <a:r>
              <a:rPr lang="en-US" dirty="0"/>
              <a:t>Distribution shows moderate skewness</a:t>
            </a:r>
          </a:p>
          <a:p>
            <a:r>
              <a:rPr lang="en-US" dirty="0"/>
              <a:t>Extreme high and low temperatures are present</a:t>
            </a:r>
          </a:p>
          <a:p>
            <a:r>
              <a:rPr lang="en-US" dirty="0"/>
              <a:t>Global dataset captures diverse climatic conditions</a:t>
            </a:r>
          </a:p>
          <a:p>
            <a:r>
              <a:rPr lang="en-US" dirty="0"/>
              <a:t>Temperature variability supports forecasting analysis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E349F-62DF-18AA-4437-CB3C77B2AB1D}"/>
              </a:ext>
            </a:extLst>
          </p:cNvPr>
          <p:cNvSpPr txBox="1"/>
          <p:nvPr/>
        </p:nvSpPr>
        <p:spPr>
          <a:xfrm>
            <a:off x="1060721" y="5369386"/>
            <a:ext cx="1030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r>
              <a:rPr lang="en-US" dirty="0"/>
              <a:t>The dataset exhibits strong climatic diversity across global regions.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105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099E-6156-57DC-BBF1-50FEDEA4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3608"/>
            <a:ext cx="8596668" cy="82591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Correlation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2BE24B-8775-0CE5-F72E-523A1A0CDB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3334" y="1219024"/>
            <a:ext cx="5732769" cy="454335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759F27-BEB8-837C-3ED5-DF13AA87D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1338671"/>
            <a:ext cx="4184034" cy="3880773"/>
          </a:xfrm>
        </p:spPr>
        <p:txBody>
          <a:bodyPr>
            <a:normAutofit/>
          </a:bodyPr>
          <a:lstStyle/>
          <a:p>
            <a:r>
              <a:rPr lang="en-IN" dirty="0"/>
              <a:t>PM2.5 and PM10 show strong positive correlation</a:t>
            </a:r>
          </a:p>
          <a:p>
            <a:r>
              <a:rPr lang="en-IN" dirty="0"/>
              <a:t>Temperature positively correlates with UV Index</a:t>
            </a:r>
          </a:p>
          <a:p>
            <a:r>
              <a:rPr lang="en-IN" dirty="0"/>
              <a:t>Humidity negatively correlates with UV exposure</a:t>
            </a:r>
          </a:p>
          <a:p>
            <a:r>
              <a:rPr lang="en-IN" dirty="0"/>
              <a:t>Air quality indicators exhibit meaningful relationships</a:t>
            </a:r>
          </a:p>
          <a:p>
            <a:r>
              <a:rPr lang="en-IN" dirty="0"/>
              <a:t>Weather and environmental variables are interconnected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A5B7D-0185-0281-89C2-D72344836119}"/>
              </a:ext>
            </a:extLst>
          </p:cNvPr>
          <p:cNvSpPr txBox="1"/>
          <p:nvPr/>
        </p:nvSpPr>
        <p:spPr>
          <a:xfrm>
            <a:off x="972865" y="5756678"/>
            <a:ext cx="10275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r>
              <a:rPr lang="en-US" dirty="0"/>
              <a:t>Environmental and atmospheric variables show meaningful interactions useful for forecasting and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7826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1FF2-9892-986E-B3A1-396B9324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45807"/>
            <a:ext cx="10924730" cy="76691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Monthly Temperature and Precipitation Trends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461D7F-531D-1B27-73B3-3B0346E7E6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3132" y="1448534"/>
            <a:ext cx="5418137" cy="30222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6B5A6B-BE56-CAD7-BE94-8FF27F835A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3238" y="1448533"/>
            <a:ext cx="5495630" cy="30222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2EC12C-6A9A-E10F-EE76-AAFF53E2CD72}"/>
              </a:ext>
            </a:extLst>
          </p:cNvPr>
          <p:cNvSpPr txBox="1"/>
          <p:nvPr/>
        </p:nvSpPr>
        <p:spPr>
          <a:xfrm>
            <a:off x="3224981" y="4798141"/>
            <a:ext cx="7895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follows a clear seasonal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Mid-year months exhibit peak temperatures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Precipitation patterns are more irregular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rainfall patterns are visible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Temporal structure supports time-series forecasting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228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4EC3-8644-26BE-D93E-10057644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4297"/>
            <a:ext cx="8596668" cy="904568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Seasonal Climate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B2F573-24D3-4233-49AF-3CE73B531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3" y="1349300"/>
            <a:ext cx="5084369" cy="34787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DBD39ED-F689-8A8D-7C4F-6F2B17B17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6148" y="1406489"/>
            <a:ext cx="5088518" cy="3421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CFB274-ADA5-77AB-A1AF-8410E67801F7}"/>
              </a:ext>
            </a:extLst>
          </p:cNvPr>
          <p:cNvSpPr txBox="1"/>
          <p:nvPr/>
        </p:nvSpPr>
        <p:spPr>
          <a:xfrm>
            <a:off x="3063516" y="4995703"/>
            <a:ext cx="6725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exhibits highest temperature and precipitation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Winter shows lowest temperature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seasonal climatic variation is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trends confirm annual climate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Seasonality is important for forecasting accuracy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43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F940-C8D5-7B00-852B-9FBA32D8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3961"/>
            <a:ext cx="8596668" cy="83574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Environmental Impact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851AA3-8433-C2DB-7DD4-BB21B251B8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0044" y="1602658"/>
            <a:ext cx="5796632" cy="30873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237DF6-278E-DA77-7200-4B6B26A726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8289" y="1602658"/>
            <a:ext cx="5093667" cy="30873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FD3AA2-DA7C-9FD4-0571-99EDF5DB56A7}"/>
              </a:ext>
            </a:extLst>
          </p:cNvPr>
          <p:cNvSpPr txBox="1"/>
          <p:nvPr/>
        </p:nvSpPr>
        <p:spPr>
          <a:xfrm>
            <a:off x="3116826" y="4984953"/>
            <a:ext cx="7502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Significant variation exists in global PM2.5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Several regions exhibit elevated pollution concentrations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Pollution indicators correlate with weather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Air quality analysis provides environmental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Environmental variables contribute to forecasting behaviour</a:t>
            </a:r>
          </a:p>
        </p:txBody>
      </p:sp>
    </p:spTree>
    <p:extLst>
      <p:ext uri="{BB962C8B-B14F-4D97-AF65-F5344CB8AC3E}">
        <p14:creationId xmlns:p14="http://schemas.microsoft.com/office/powerpoint/2010/main" val="2464159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9E52-226F-7C2E-7F65-0687CD06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83459"/>
            <a:ext cx="10492111" cy="132080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Geographical and Spatial Weather Analysis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711A19-9BC3-DEF9-27B9-3C46114FE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372897"/>
            <a:ext cx="10661838" cy="34944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A594FD-6CBE-CD86-A3BD-EABC556869F3}"/>
              </a:ext>
            </a:extLst>
          </p:cNvPr>
          <p:cNvSpPr txBox="1"/>
          <p:nvPr/>
        </p:nvSpPr>
        <p:spPr>
          <a:xfrm>
            <a:off x="677332" y="5118082"/>
            <a:ext cx="10492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Warmer regions cluster around tropical and desert areas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Cooler conditions appear at higher latitudes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Spatial weather patterns vary significantly worldwide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Geography strongly influences climatic behaviour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Spatial visualization improves regional climate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23685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DAEC-6933-BC61-140F-DA169F52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3458"/>
            <a:ext cx="8596668" cy="7859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Environmental Anomaly Detection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961F64-AA1D-A7D9-611A-19E066E8F6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3" y="1592826"/>
            <a:ext cx="6710074" cy="426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86A9A-A729-DFF0-10C8-408028117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2835" y="1592826"/>
            <a:ext cx="4184034" cy="4448866"/>
          </a:xfrm>
        </p:spPr>
        <p:txBody>
          <a:bodyPr>
            <a:normAutofit/>
          </a:bodyPr>
          <a:lstStyle/>
          <a:p>
            <a:r>
              <a:rPr lang="en-US" b="1" dirty="0"/>
              <a:t>Method Used</a:t>
            </a:r>
            <a:r>
              <a:rPr lang="en-US" dirty="0"/>
              <a:t>: </a:t>
            </a:r>
            <a:r>
              <a:rPr lang="en-US" b="1" dirty="0"/>
              <a:t>Isolation Forest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Features Used:</a:t>
            </a:r>
          </a:p>
          <a:p>
            <a:r>
              <a:rPr lang="en-US" dirty="0"/>
              <a:t>Temperature</a:t>
            </a:r>
          </a:p>
          <a:p>
            <a:r>
              <a:rPr lang="en-US" dirty="0"/>
              <a:t>Humidity</a:t>
            </a:r>
          </a:p>
          <a:p>
            <a:r>
              <a:rPr lang="en-US" dirty="0"/>
              <a:t>PM2.5</a:t>
            </a:r>
          </a:p>
          <a:p>
            <a:r>
              <a:rPr lang="en-US" dirty="0"/>
              <a:t>PM10</a:t>
            </a:r>
          </a:p>
          <a:p>
            <a:r>
              <a:rPr lang="en-US" dirty="0"/>
              <a:t>Pressure</a:t>
            </a:r>
          </a:p>
          <a:p>
            <a:r>
              <a:rPr lang="en-US" dirty="0"/>
              <a:t>Wind Speed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274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A1FD-D098-4F16-8714-452FD849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6" y="393851"/>
            <a:ext cx="8596668" cy="845574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Feature Importance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22E5C0-01DF-A6E7-176F-919434CF26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6" y="1740310"/>
            <a:ext cx="6650719" cy="3880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5D61C-A780-4DAB-2AA4-B0ABF4AD2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7028" y="1740310"/>
            <a:ext cx="4184034" cy="3880773"/>
          </a:xfrm>
        </p:spPr>
        <p:txBody>
          <a:bodyPr>
            <a:normAutofit/>
          </a:bodyPr>
          <a:lstStyle/>
          <a:p>
            <a:r>
              <a:rPr lang="en-US" dirty="0"/>
              <a:t>UV Index was the strongest predictor</a:t>
            </a:r>
          </a:p>
          <a:p>
            <a:r>
              <a:rPr lang="en-US" dirty="0"/>
              <a:t>Pressure and humidity strongly influenced temperature</a:t>
            </a:r>
          </a:p>
          <a:p>
            <a:r>
              <a:rPr lang="en-US" dirty="0"/>
              <a:t>Visibility and cloud cover were significant</a:t>
            </a:r>
          </a:p>
          <a:p>
            <a:r>
              <a:rPr lang="en-US" dirty="0"/>
              <a:t>Environmental indicators contributed to prediction</a:t>
            </a:r>
          </a:p>
          <a:p>
            <a:r>
              <a:rPr lang="en-US" dirty="0"/>
              <a:t>Weather variables exhibit interconnected 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75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92F1-8199-D786-32E4-4C6312B3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6" y="334297"/>
            <a:ext cx="8596668" cy="845574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Forecasting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43D5-166D-CF4F-BC24-2A6492B01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6" y="1297859"/>
            <a:ext cx="5920109" cy="4862154"/>
          </a:xfrm>
        </p:spPr>
        <p:txBody>
          <a:bodyPr>
            <a:normAutofit/>
          </a:bodyPr>
          <a:lstStyle/>
          <a:p>
            <a:r>
              <a:rPr lang="en-US" b="1" dirty="0"/>
              <a:t>Forecasting Target</a:t>
            </a:r>
            <a:r>
              <a:rPr lang="en-US" dirty="0"/>
              <a:t>: Temperature (°C)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Forecasting Features</a:t>
            </a:r>
            <a:r>
              <a:rPr lang="en-US" dirty="0"/>
              <a:t>:</a:t>
            </a:r>
          </a:p>
          <a:p>
            <a:r>
              <a:rPr lang="en-US" dirty="0"/>
              <a:t>Lag Features</a:t>
            </a:r>
          </a:p>
          <a:p>
            <a:r>
              <a:rPr lang="en-US" dirty="0"/>
              <a:t>Rolling Means</a:t>
            </a:r>
          </a:p>
          <a:p>
            <a:r>
              <a:rPr lang="en-US" dirty="0"/>
              <a:t>Month</a:t>
            </a:r>
          </a:p>
          <a:p>
            <a:r>
              <a:rPr lang="en-US" dirty="0"/>
              <a:t>Day of Year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Time-series forecasting was performed using chronologically ordered weather observations from Tokyo.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02760E-F96B-B71E-5A46-048A8092C1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81194607"/>
              </p:ext>
            </p:extLst>
          </p:nvPr>
        </p:nvGraphicFramePr>
        <p:xfrm>
          <a:off x="5670718" y="1179871"/>
          <a:ext cx="5499817" cy="4862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851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B48D-610E-2BFE-36D3-72F682F8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6" y="324465"/>
            <a:ext cx="8596668" cy="786580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Forecasting Models Implemented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7CE1BF-7868-AF11-47A8-EABEF84B571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54474568"/>
              </p:ext>
            </p:extLst>
          </p:nvPr>
        </p:nvGraphicFramePr>
        <p:xfrm>
          <a:off x="677335" y="1641987"/>
          <a:ext cx="6224910" cy="35494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12455">
                  <a:extLst>
                    <a:ext uri="{9D8B030D-6E8A-4147-A177-3AD203B41FA5}">
                      <a16:colId xmlns:a16="http://schemas.microsoft.com/office/drawing/2014/main" val="2867025992"/>
                    </a:ext>
                  </a:extLst>
                </a:gridCol>
                <a:gridCol w="3112455">
                  <a:extLst>
                    <a:ext uri="{9D8B030D-6E8A-4147-A177-3AD203B41FA5}">
                      <a16:colId xmlns:a16="http://schemas.microsoft.com/office/drawing/2014/main" val="3514940919"/>
                    </a:ext>
                  </a:extLst>
                </a:gridCol>
              </a:tblGrid>
              <a:tr h="70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Model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2215764254"/>
                  </a:ext>
                </a:extLst>
              </a:tr>
              <a:tr h="70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Baseline Moving Average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Simple temporal benchmark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536391140"/>
                  </a:ext>
                </a:extLst>
              </a:tr>
              <a:tr h="70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Random Forest Regressor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Nonlinear ML forecasting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2224316811"/>
                  </a:ext>
                </a:extLst>
              </a:tr>
              <a:tr h="70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XGBoost</a:t>
                      </a:r>
                      <a:r>
                        <a:rPr lang="en-IN" sz="1800" dirty="0"/>
                        <a:t> Regressor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Advanced boosting model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2550809497"/>
                  </a:ext>
                </a:extLst>
              </a:tr>
              <a:tr h="70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Ensemble Model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Combined multi-model prediction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4097133023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38BE5-4AE0-CB41-2826-CDE790EF9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03729" y="1641987"/>
            <a:ext cx="4184034" cy="346095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endParaRPr lang="en-IN" dirty="0"/>
          </a:p>
          <a:p>
            <a:r>
              <a:rPr lang="en-IN" dirty="0"/>
              <a:t>MAE</a:t>
            </a:r>
          </a:p>
          <a:p>
            <a:r>
              <a:rPr lang="en-IN" dirty="0"/>
              <a:t>RMSE</a:t>
            </a:r>
          </a:p>
          <a:p>
            <a:r>
              <a:rPr lang="en-IN" dirty="0"/>
              <a:t>R² Score</a:t>
            </a:r>
          </a:p>
          <a:p>
            <a:r>
              <a:rPr lang="en-IN" dirty="0"/>
              <a:t>MAPE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1AF7A-24E9-96A6-FF28-801182D859B9}"/>
              </a:ext>
            </a:extLst>
          </p:cNvPr>
          <p:cNvSpPr txBox="1"/>
          <p:nvPr/>
        </p:nvSpPr>
        <p:spPr>
          <a:xfrm>
            <a:off x="677335" y="5525729"/>
            <a:ext cx="10138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forecasting approaches were compared to evaluate predictive performance and robustness.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079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464F-5A97-3E4E-DB1E-FF337D12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3683"/>
            <a:ext cx="9843182" cy="825910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Forecasting Model Performance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BC5B2B-7E58-B7F3-0623-0A3D0B6BAE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01182551"/>
              </p:ext>
            </p:extLst>
          </p:nvPr>
        </p:nvGraphicFramePr>
        <p:xfrm>
          <a:off x="677864" y="1455789"/>
          <a:ext cx="6312870" cy="35586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62574">
                  <a:extLst>
                    <a:ext uri="{9D8B030D-6E8A-4147-A177-3AD203B41FA5}">
                      <a16:colId xmlns:a16="http://schemas.microsoft.com/office/drawing/2014/main" val="262846401"/>
                    </a:ext>
                  </a:extLst>
                </a:gridCol>
                <a:gridCol w="1262574">
                  <a:extLst>
                    <a:ext uri="{9D8B030D-6E8A-4147-A177-3AD203B41FA5}">
                      <a16:colId xmlns:a16="http://schemas.microsoft.com/office/drawing/2014/main" val="266778788"/>
                    </a:ext>
                  </a:extLst>
                </a:gridCol>
                <a:gridCol w="1262574">
                  <a:extLst>
                    <a:ext uri="{9D8B030D-6E8A-4147-A177-3AD203B41FA5}">
                      <a16:colId xmlns:a16="http://schemas.microsoft.com/office/drawing/2014/main" val="3184925426"/>
                    </a:ext>
                  </a:extLst>
                </a:gridCol>
                <a:gridCol w="1262574">
                  <a:extLst>
                    <a:ext uri="{9D8B030D-6E8A-4147-A177-3AD203B41FA5}">
                      <a16:colId xmlns:a16="http://schemas.microsoft.com/office/drawing/2014/main" val="1673684725"/>
                    </a:ext>
                  </a:extLst>
                </a:gridCol>
                <a:gridCol w="1262574">
                  <a:extLst>
                    <a:ext uri="{9D8B030D-6E8A-4147-A177-3AD203B41FA5}">
                      <a16:colId xmlns:a16="http://schemas.microsoft.com/office/drawing/2014/main" val="3386274507"/>
                    </a:ext>
                  </a:extLst>
                </a:gridCol>
              </a:tblGrid>
              <a:tr h="61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Model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MAE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RMSE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R²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MAPE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527145170"/>
                  </a:ext>
                </a:extLst>
              </a:tr>
              <a:tr h="61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Baseline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2.47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3.00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0.67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18.66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586279783"/>
                  </a:ext>
                </a:extLst>
              </a:tr>
              <a:tr h="1085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Random Forest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2.68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3.28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0.60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19.93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2475789363"/>
                  </a:ext>
                </a:extLst>
              </a:tr>
              <a:tr h="61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XGBoost</a:t>
                      </a:r>
                      <a:endParaRPr lang="en-IN" sz="1800" b="1" dirty="0"/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2.79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3.51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0.54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21.11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4246487701"/>
                  </a:ext>
                </a:extLst>
              </a:tr>
              <a:tr h="618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Ensemble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2.50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3.12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0.64</a:t>
                      </a:r>
                    </a:p>
                  </a:txBody>
                  <a:tcPr marL="44496" marR="44496" marT="22248" marB="22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18.81</a:t>
                      </a:r>
                    </a:p>
                  </a:txBody>
                  <a:tcPr marL="44496" marR="44496" marT="22248" marB="22248" anchor="ctr"/>
                </a:tc>
                <a:extLst>
                  <a:ext uri="{0D108BD9-81ED-4DB2-BD59-A6C34878D82A}">
                    <a16:rowId xmlns:a16="http://schemas.microsoft.com/office/drawing/2014/main" val="337359579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8BC98-7725-0969-CC31-1F8F7C0CF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8705" y="1455787"/>
            <a:ext cx="4184034" cy="393228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Insights: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Baseline model achieved best performance</a:t>
            </a:r>
          </a:p>
          <a:p>
            <a:r>
              <a:rPr lang="en-US" dirty="0"/>
              <a:t>Strong seasonality dominated the signal</a:t>
            </a:r>
          </a:p>
          <a:p>
            <a:r>
              <a:rPr lang="en-US" dirty="0"/>
              <a:t>Ensemble improved robustness over ML models</a:t>
            </a:r>
          </a:p>
          <a:p>
            <a:r>
              <a:rPr lang="en-US" dirty="0"/>
              <a:t>Simpler temporal methods performed effectively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2BE64-FA60-F55C-392C-43D940B2B1E1}"/>
              </a:ext>
            </a:extLst>
          </p:cNvPr>
          <p:cNvSpPr txBox="1"/>
          <p:nvPr/>
        </p:nvSpPr>
        <p:spPr>
          <a:xfrm>
            <a:off x="677334" y="5486400"/>
            <a:ext cx="10216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r>
              <a:rPr lang="en-US" dirty="0"/>
              <a:t>Strong temporal smoothness in the temperature series allowed simpler forecasting approaches to outperform more complex machine learning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37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86D6-836C-2B5C-3E2F-307CF287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2" y="311202"/>
            <a:ext cx="8596668" cy="82591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Actual vs Forecasted Temperature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025502-479D-34AA-262B-C0B37EC318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3897" y="1137112"/>
            <a:ext cx="10304206" cy="4077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1A2F0-1CC7-38E2-1621-AE997CC8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3897" y="5329084"/>
            <a:ext cx="9450173" cy="1276707"/>
          </a:xfrm>
        </p:spPr>
        <p:txBody>
          <a:bodyPr>
            <a:noAutofit/>
          </a:bodyPr>
          <a:lstStyle/>
          <a:p>
            <a:r>
              <a:rPr lang="en-US" sz="1200" dirty="0"/>
              <a:t>Forecasted temperatures closely followed overall trends</a:t>
            </a:r>
          </a:p>
          <a:p>
            <a:r>
              <a:rPr lang="en-US" sz="1200" dirty="0"/>
              <a:t>Seasonal movement was captured effectively</a:t>
            </a:r>
          </a:p>
          <a:p>
            <a:r>
              <a:rPr lang="en-US" sz="1200" dirty="0"/>
              <a:t>Short-term fluctuations were partially captured</a:t>
            </a:r>
          </a:p>
          <a:p>
            <a:r>
              <a:rPr lang="en-US" sz="1200" dirty="0"/>
              <a:t>Forecasting results demonstrated strong temporal predictability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021250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1887-180F-F964-1EBF-D5FB3B46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0109"/>
            <a:ext cx="8596668" cy="83574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Key Insights and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1046-D88F-CC02-C9FE-43F981F9E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25677"/>
            <a:ext cx="5418666" cy="4615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Analytical Insights:</a:t>
            </a:r>
          </a:p>
          <a:p>
            <a:endParaRPr lang="en-IN" sz="2000" dirty="0"/>
          </a:p>
          <a:p>
            <a:r>
              <a:rPr lang="en-IN" sz="2000" dirty="0"/>
              <a:t>Global weather patterns exhibit strong seasonality</a:t>
            </a:r>
          </a:p>
          <a:p>
            <a:r>
              <a:rPr lang="en-IN" sz="2000" dirty="0"/>
              <a:t>Environmental variables show meaningful correlations</a:t>
            </a:r>
          </a:p>
          <a:p>
            <a:r>
              <a:rPr lang="en-IN" sz="2000" dirty="0"/>
              <a:t>Air quality indicators vary significantly across regions</a:t>
            </a:r>
          </a:p>
          <a:p>
            <a:r>
              <a:rPr lang="en-IN" sz="2000" dirty="0"/>
              <a:t>Spatial analysis revealed geographical climate differences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CCB1F-EBA1-7561-1059-131E147A2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1425676"/>
            <a:ext cx="5043948" cy="4615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Modelling Insights:</a:t>
            </a:r>
          </a:p>
          <a:p>
            <a:endParaRPr lang="en-IN" sz="2000" dirty="0"/>
          </a:p>
          <a:p>
            <a:r>
              <a:rPr lang="en-US" sz="2000" dirty="0"/>
              <a:t>Time-series features improved forecasting capability</a:t>
            </a:r>
          </a:p>
          <a:p>
            <a:r>
              <a:rPr lang="en-US" sz="2000" dirty="0"/>
              <a:t>Isolation Forest effectively identified anomalies</a:t>
            </a:r>
          </a:p>
          <a:p>
            <a:r>
              <a:rPr lang="en-US" sz="2000" dirty="0"/>
              <a:t>Simpler forecasting models performed competitively</a:t>
            </a:r>
          </a:p>
          <a:p>
            <a:r>
              <a:rPr lang="en-US" sz="2000" dirty="0"/>
              <a:t>Ensemble methods improved prediction robustness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87394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E5E5-F146-9722-8E14-3DF481CD7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5" y="723217"/>
            <a:ext cx="8413681" cy="164630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Thank</a:t>
            </a:r>
            <a:r>
              <a:rPr lang="en-IN" b="1" dirty="0"/>
              <a:t>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You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B1485F-80A0-C16A-DB6D-2536FBABB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2762806"/>
            <a:ext cx="8413681" cy="3618329"/>
          </a:xfrm>
        </p:spPr>
        <p:txBody>
          <a:bodyPr>
            <a:noAutofit/>
          </a:bodyPr>
          <a:lstStyle/>
          <a:p>
            <a:r>
              <a:rPr lang="en-IN" b="1" dirty="0"/>
              <a:t>Rahul Pandey</a:t>
            </a:r>
          </a:p>
          <a:p>
            <a:r>
              <a:rPr lang="en-IN" dirty="0"/>
              <a:t>GitHub:</a:t>
            </a:r>
          </a:p>
          <a:p>
            <a:r>
              <a:rPr lang="en-IN" dirty="0"/>
              <a:t>github.com/rahul-9k</a:t>
            </a:r>
          </a:p>
          <a:p>
            <a:r>
              <a:rPr lang="en-IN" dirty="0"/>
              <a:t>LinkedIn:</a:t>
            </a:r>
          </a:p>
          <a:p>
            <a:r>
              <a:rPr lang="en-IN" dirty="0"/>
              <a:t>linkedin.com/in/rahulpandey9k</a:t>
            </a:r>
          </a:p>
          <a:p>
            <a:endParaRPr lang="en-IN" dirty="0"/>
          </a:p>
          <a:p>
            <a:r>
              <a:rPr lang="en-US" b="1" dirty="0"/>
              <a:t>Data Science Technical Assessment</a:t>
            </a:r>
          </a:p>
          <a:p>
            <a:r>
              <a:rPr lang="en-US" dirty="0"/>
              <a:t>PM Accelerator Internship 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226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480</TotalTime>
  <Words>783</Words>
  <Application>Microsoft Office PowerPoint</Application>
  <PresentationFormat>Widescreen</PresentationFormat>
  <Paragraphs>194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 3</vt:lpstr>
      <vt:lpstr>Facet</vt:lpstr>
      <vt:lpstr>Global Weather Trend Forecasting and Climate Analysis</vt:lpstr>
      <vt:lpstr>Project Overview</vt:lpstr>
      <vt:lpstr>Dataset Overview</vt:lpstr>
      <vt:lpstr>Data Cleaning and Preprocessing</vt:lpstr>
      <vt:lpstr>Temperature Distribution Analysis</vt:lpstr>
      <vt:lpstr>Correlation Analysis</vt:lpstr>
      <vt:lpstr>Monthly Temperature and Precipitation Trends</vt:lpstr>
      <vt:lpstr>Seasonal Climate Analysis</vt:lpstr>
      <vt:lpstr>Environmental Impact Analysis</vt:lpstr>
      <vt:lpstr>Geographical and Spatial Weather Analysis</vt:lpstr>
      <vt:lpstr>Environmental Anomaly Detection</vt:lpstr>
      <vt:lpstr>Feature Importance Analysis</vt:lpstr>
      <vt:lpstr>Forecasting Pipeline</vt:lpstr>
      <vt:lpstr>Forecasting Models Implemented</vt:lpstr>
      <vt:lpstr>Forecasting Model Performance Comparison</vt:lpstr>
      <vt:lpstr>Actual vs Forecasted Temperature</vt:lpstr>
      <vt:lpstr>Key Insights and Learnings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Pandey</dc:creator>
  <cp:lastModifiedBy>Rahul Pandey</cp:lastModifiedBy>
  <cp:revision>3</cp:revision>
  <dcterms:created xsi:type="dcterms:W3CDTF">2026-05-07T19:59:53Z</dcterms:created>
  <dcterms:modified xsi:type="dcterms:W3CDTF">2026-05-08T20:38:55Z</dcterms:modified>
</cp:coreProperties>
</file>