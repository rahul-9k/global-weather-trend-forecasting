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7" r:id="rId1"/>
  </p:sldMasterIdLst>
  <p:notesMasterIdLst>
    <p:notesMasterId r:id="rId21"/>
  </p:notesMasterIdLst>
  <p:sldIdLst>
    <p:sldId id="256" r:id="rId2"/>
    <p:sldId id="275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4" r:id="rId2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510" autoAdjust="0"/>
    <p:restoredTop sz="94660"/>
  </p:normalViewPr>
  <p:slideViewPr>
    <p:cSldViewPr snapToGrid="0">
      <p:cViewPr varScale="1">
        <p:scale>
          <a:sx n="78" d="100"/>
          <a:sy n="78" d="100"/>
        </p:scale>
        <p:origin x="811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F7A5B776-BE2D-4C23-ABED-43EED1CF1C6E}" type="doc">
      <dgm:prSet loTypeId="urn:microsoft.com/office/officeart/2005/8/layout/process2" loCatId="process" qsTypeId="urn:microsoft.com/office/officeart/2005/8/quickstyle/simple1" qsCatId="simple" csTypeId="urn:microsoft.com/office/officeart/2005/8/colors/accent1_2" csCatId="accent1" phldr="1"/>
      <dgm:spPr/>
    </dgm:pt>
    <dgm:pt modelId="{06AEA95D-F0CE-4E3C-92E4-509A2E5A25A5}">
      <dgm:prSet phldrT="[Text]"/>
      <dgm:spPr/>
      <dgm:t>
        <a:bodyPr/>
        <a:lstStyle/>
        <a:p>
          <a:pPr>
            <a:buNone/>
          </a:pPr>
          <a:r>
            <a:rPr lang="en-IN" dirty="0"/>
            <a:t>Raw Data</a:t>
          </a:r>
        </a:p>
      </dgm:t>
    </dgm:pt>
    <dgm:pt modelId="{DB6152D8-ED97-459D-B301-68FDFC6B0D49}" type="parTrans" cxnId="{66E5A65E-86AE-4106-A0D0-DCF487CCDD44}">
      <dgm:prSet/>
      <dgm:spPr/>
      <dgm:t>
        <a:bodyPr/>
        <a:lstStyle/>
        <a:p>
          <a:endParaRPr lang="en-IN"/>
        </a:p>
      </dgm:t>
    </dgm:pt>
    <dgm:pt modelId="{8251D992-743B-4171-9EE5-568AD8E27F40}" type="sibTrans" cxnId="{66E5A65E-86AE-4106-A0D0-DCF487CCDD44}">
      <dgm:prSet/>
      <dgm:spPr/>
      <dgm:t>
        <a:bodyPr/>
        <a:lstStyle/>
        <a:p>
          <a:endParaRPr lang="en-IN"/>
        </a:p>
      </dgm:t>
    </dgm:pt>
    <dgm:pt modelId="{E9E851C0-8765-4598-9C76-0FBCA0D969A7}">
      <dgm:prSet phldrT="[Text]"/>
      <dgm:spPr/>
      <dgm:t>
        <a:bodyPr/>
        <a:lstStyle/>
        <a:p>
          <a:pPr>
            <a:buNone/>
          </a:pPr>
          <a:r>
            <a:rPr lang="en-IN" dirty="0"/>
            <a:t>Cleaning</a:t>
          </a:r>
        </a:p>
      </dgm:t>
    </dgm:pt>
    <dgm:pt modelId="{73EB0926-2D2F-4D7D-8BB4-7F68BBB3E396}" type="parTrans" cxnId="{23443526-C6A1-4C0C-8D45-0EB7CC3862E7}">
      <dgm:prSet/>
      <dgm:spPr/>
      <dgm:t>
        <a:bodyPr/>
        <a:lstStyle/>
        <a:p>
          <a:endParaRPr lang="en-IN"/>
        </a:p>
      </dgm:t>
    </dgm:pt>
    <dgm:pt modelId="{A27552F5-D1F2-4238-99CA-FCC64858754F}" type="sibTrans" cxnId="{23443526-C6A1-4C0C-8D45-0EB7CC3862E7}">
      <dgm:prSet/>
      <dgm:spPr/>
      <dgm:t>
        <a:bodyPr/>
        <a:lstStyle/>
        <a:p>
          <a:endParaRPr lang="en-IN"/>
        </a:p>
      </dgm:t>
    </dgm:pt>
    <dgm:pt modelId="{BB9D0766-0E94-4A5E-BB87-12344402DE65}">
      <dgm:prSet phldrT="[Text]"/>
      <dgm:spPr/>
      <dgm:t>
        <a:bodyPr/>
        <a:lstStyle/>
        <a:p>
          <a:pPr>
            <a:buNone/>
          </a:pPr>
          <a:r>
            <a:rPr lang="en-IN" dirty="0"/>
            <a:t>Feature Engineering</a:t>
          </a:r>
        </a:p>
      </dgm:t>
    </dgm:pt>
    <dgm:pt modelId="{B285781A-1FDF-448F-AA61-61993A352B99}" type="parTrans" cxnId="{180EAB74-4432-4CC6-A51A-77D8AA935D26}">
      <dgm:prSet/>
      <dgm:spPr/>
      <dgm:t>
        <a:bodyPr/>
        <a:lstStyle/>
        <a:p>
          <a:endParaRPr lang="en-IN"/>
        </a:p>
      </dgm:t>
    </dgm:pt>
    <dgm:pt modelId="{A578F0E3-08F1-4373-BE0E-B01EFFFD414E}" type="sibTrans" cxnId="{180EAB74-4432-4CC6-A51A-77D8AA935D26}">
      <dgm:prSet/>
      <dgm:spPr/>
      <dgm:t>
        <a:bodyPr/>
        <a:lstStyle/>
        <a:p>
          <a:endParaRPr lang="en-IN"/>
        </a:p>
      </dgm:t>
    </dgm:pt>
    <dgm:pt modelId="{06349043-1013-4821-9239-27E4B0EC76C1}">
      <dgm:prSet phldrT="[Text]"/>
      <dgm:spPr/>
      <dgm:t>
        <a:bodyPr/>
        <a:lstStyle/>
        <a:p>
          <a:pPr>
            <a:buNone/>
          </a:pPr>
          <a:r>
            <a:rPr lang="en-IN" dirty="0"/>
            <a:t>EDA &amp; Analysis</a:t>
          </a:r>
        </a:p>
      </dgm:t>
    </dgm:pt>
    <dgm:pt modelId="{70A4661C-701A-47D7-B816-42CF479C7EFE}" type="parTrans" cxnId="{B47FDF72-AE5D-4CC9-BE8A-E2DC56F4AF7B}">
      <dgm:prSet/>
      <dgm:spPr/>
      <dgm:t>
        <a:bodyPr/>
        <a:lstStyle/>
        <a:p>
          <a:endParaRPr lang="en-IN"/>
        </a:p>
      </dgm:t>
    </dgm:pt>
    <dgm:pt modelId="{FE944686-0EEC-4988-B25E-6DD4A53DAFDF}" type="sibTrans" cxnId="{B47FDF72-AE5D-4CC9-BE8A-E2DC56F4AF7B}">
      <dgm:prSet/>
      <dgm:spPr/>
      <dgm:t>
        <a:bodyPr/>
        <a:lstStyle/>
        <a:p>
          <a:endParaRPr lang="en-IN"/>
        </a:p>
      </dgm:t>
    </dgm:pt>
    <dgm:pt modelId="{FE66BA45-710B-4806-89C5-FF79421D61C5}">
      <dgm:prSet phldrT="[Text]"/>
      <dgm:spPr/>
      <dgm:t>
        <a:bodyPr/>
        <a:lstStyle/>
        <a:p>
          <a:pPr>
            <a:buNone/>
          </a:pPr>
          <a:r>
            <a:rPr lang="en-IN" dirty="0"/>
            <a:t>Forecasting Models</a:t>
          </a:r>
        </a:p>
      </dgm:t>
    </dgm:pt>
    <dgm:pt modelId="{94F9B804-A087-4BF2-88BD-7F973EFDB622}" type="parTrans" cxnId="{E41D19D1-F4B7-494C-8E38-BD43065BB4F7}">
      <dgm:prSet/>
      <dgm:spPr/>
      <dgm:t>
        <a:bodyPr/>
        <a:lstStyle/>
        <a:p>
          <a:endParaRPr lang="en-IN"/>
        </a:p>
      </dgm:t>
    </dgm:pt>
    <dgm:pt modelId="{7F0E8A87-02D8-441D-AF2E-901C63DC418F}" type="sibTrans" cxnId="{E41D19D1-F4B7-494C-8E38-BD43065BB4F7}">
      <dgm:prSet/>
      <dgm:spPr/>
      <dgm:t>
        <a:bodyPr/>
        <a:lstStyle/>
        <a:p>
          <a:endParaRPr lang="en-IN"/>
        </a:p>
      </dgm:t>
    </dgm:pt>
    <dgm:pt modelId="{9766C981-34B4-4734-BDB3-8EB2BDD68B67}" type="pres">
      <dgm:prSet presAssocID="{F7A5B776-BE2D-4C23-ABED-43EED1CF1C6E}" presName="linearFlow" presStyleCnt="0">
        <dgm:presLayoutVars>
          <dgm:resizeHandles val="exact"/>
        </dgm:presLayoutVars>
      </dgm:prSet>
      <dgm:spPr/>
    </dgm:pt>
    <dgm:pt modelId="{93D9C7D0-7127-405F-8C27-9DEB9F131AA0}" type="pres">
      <dgm:prSet presAssocID="{06AEA95D-F0CE-4E3C-92E4-509A2E5A25A5}" presName="node" presStyleLbl="node1" presStyleIdx="0" presStyleCnt="5">
        <dgm:presLayoutVars>
          <dgm:bulletEnabled val="1"/>
        </dgm:presLayoutVars>
      </dgm:prSet>
      <dgm:spPr/>
    </dgm:pt>
    <dgm:pt modelId="{025B0BEE-B17C-4E33-8DA4-7770C2503F47}" type="pres">
      <dgm:prSet presAssocID="{8251D992-743B-4171-9EE5-568AD8E27F40}" presName="sibTrans" presStyleLbl="sibTrans2D1" presStyleIdx="0" presStyleCnt="4"/>
      <dgm:spPr/>
    </dgm:pt>
    <dgm:pt modelId="{1239547E-A3D0-492D-9162-93DE78F73B7D}" type="pres">
      <dgm:prSet presAssocID="{8251D992-743B-4171-9EE5-568AD8E27F40}" presName="connectorText" presStyleLbl="sibTrans2D1" presStyleIdx="0" presStyleCnt="4"/>
      <dgm:spPr/>
    </dgm:pt>
    <dgm:pt modelId="{9F16D7C9-97F8-48CA-BB74-6C876681927D}" type="pres">
      <dgm:prSet presAssocID="{E9E851C0-8765-4598-9C76-0FBCA0D969A7}" presName="node" presStyleLbl="node1" presStyleIdx="1" presStyleCnt="5">
        <dgm:presLayoutVars>
          <dgm:bulletEnabled val="1"/>
        </dgm:presLayoutVars>
      </dgm:prSet>
      <dgm:spPr/>
    </dgm:pt>
    <dgm:pt modelId="{0D8473FD-0522-4FAD-A7D0-5542F3BB310A}" type="pres">
      <dgm:prSet presAssocID="{A27552F5-D1F2-4238-99CA-FCC64858754F}" presName="sibTrans" presStyleLbl="sibTrans2D1" presStyleIdx="1" presStyleCnt="4"/>
      <dgm:spPr/>
    </dgm:pt>
    <dgm:pt modelId="{6AA2730E-FB7B-4832-B4B4-D1A8E2A4A859}" type="pres">
      <dgm:prSet presAssocID="{A27552F5-D1F2-4238-99CA-FCC64858754F}" presName="connectorText" presStyleLbl="sibTrans2D1" presStyleIdx="1" presStyleCnt="4"/>
      <dgm:spPr/>
    </dgm:pt>
    <dgm:pt modelId="{A59C2093-C6ED-4B38-8FD4-5F69EEF07C1E}" type="pres">
      <dgm:prSet presAssocID="{BB9D0766-0E94-4A5E-BB87-12344402DE65}" presName="node" presStyleLbl="node1" presStyleIdx="2" presStyleCnt="5">
        <dgm:presLayoutVars>
          <dgm:bulletEnabled val="1"/>
        </dgm:presLayoutVars>
      </dgm:prSet>
      <dgm:spPr/>
    </dgm:pt>
    <dgm:pt modelId="{6864FED6-FC7B-4CC0-8001-D9397D82E8D8}" type="pres">
      <dgm:prSet presAssocID="{A578F0E3-08F1-4373-BE0E-B01EFFFD414E}" presName="sibTrans" presStyleLbl="sibTrans2D1" presStyleIdx="2" presStyleCnt="4"/>
      <dgm:spPr/>
    </dgm:pt>
    <dgm:pt modelId="{A0E30B91-300F-43CA-BC25-B0C2EF52628F}" type="pres">
      <dgm:prSet presAssocID="{A578F0E3-08F1-4373-BE0E-B01EFFFD414E}" presName="connectorText" presStyleLbl="sibTrans2D1" presStyleIdx="2" presStyleCnt="4"/>
      <dgm:spPr/>
    </dgm:pt>
    <dgm:pt modelId="{27BD67CF-47A5-4CE4-A7F2-EF6FAFD59A55}" type="pres">
      <dgm:prSet presAssocID="{06349043-1013-4821-9239-27E4B0EC76C1}" presName="node" presStyleLbl="node1" presStyleIdx="3" presStyleCnt="5">
        <dgm:presLayoutVars>
          <dgm:bulletEnabled val="1"/>
        </dgm:presLayoutVars>
      </dgm:prSet>
      <dgm:spPr/>
    </dgm:pt>
    <dgm:pt modelId="{BBD41EFE-38CD-4BAA-8251-5EC176E4017C}" type="pres">
      <dgm:prSet presAssocID="{FE944686-0EEC-4988-B25E-6DD4A53DAFDF}" presName="sibTrans" presStyleLbl="sibTrans2D1" presStyleIdx="3" presStyleCnt="4"/>
      <dgm:spPr/>
    </dgm:pt>
    <dgm:pt modelId="{093797F7-7D8D-4B45-8AE1-BB4574268422}" type="pres">
      <dgm:prSet presAssocID="{FE944686-0EEC-4988-B25E-6DD4A53DAFDF}" presName="connectorText" presStyleLbl="sibTrans2D1" presStyleIdx="3" presStyleCnt="4"/>
      <dgm:spPr/>
    </dgm:pt>
    <dgm:pt modelId="{159675E7-3D00-4F58-922B-2610E5EEF68C}" type="pres">
      <dgm:prSet presAssocID="{FE66BA45-710B-4806-89C5-FF79421D61C5}" presName="node" presStyleLbl="node1" presStyleIdx="4" presStyleCnt="5">
        <dgm:presLayoutVars>
          <dgm:bulletEnabled val="1"/>
        </dgm:presLayoutVars>
      </dgm:prSet>
      <dgm:spPr/>
    </dgm:pt>
  </dgm:ptLst>
  <dgm:cxnLst>
    <dgm:cxn modelId="{D9115800-4813-46A5-8E95-57C89A1D4EAA}" type="presOf" srcId="{FE66BA45-710B-4806-89C5-FF79421D61C5}" destId="{159675E7-3D00-4F58-922B-2610E5EEF68C}" srcOrd="0" destOrd="0" presId="urn:microsoft.com/office/officeart/2005/8/layout/process2"/>
    <dgm:cxn modelId="{C0E3DF09-B9A5-43FF-904A-75C0464DCD94}" type="presOf" srcId="{8251D992-743B-4171-9EE5-568AD8E27F40}" destId="{1239547E-A3D0-492D-9162-93DE78F73B7D}" srcOrd="1" destOrd="0" presId="urn:microsoft.com/office/officeart/2005/8/layout/process2"/>
    <dgm:cxn modelId="{7486A111-3F05-47C2-A45B-229E6CB37952}" type="presOf" srcId="{BB9D0766-0E94-4A5E-BB87-12344402DE65}" destId="{A59C2093-C6ED-4B38-8FD4-5F69EEF07C1E}" srcOrd="0" destOrd="0" presId="urn:microsoft.com/office/officeart/2005/8/layout/process2"/>
    <dgm:cxn modelId="{F3D8DE14-FC4B-416F-9BA1-9F35E6B592E9}" type="presOf" srcId="{FE944686-0EEC-4988-B25E-6DD4A53DAFDF}" destId="{BBD41EFE-38CD-4BAA-8251-5EC176E4017C}" srcOrd="0" destOrd="0" presId="urn:microsoft.com/office/officeart/2005/8/layout/process2"/>
    <dgm:cxn modelId="{5050CF16-64D5-4377-8493-FFDD96BB56EA}" type="presOf" srcId="{06349043-1013-4821-9239-27E4B0EC76C1}" destId="{27BD67CF-47A5-4CE4-A7F2-EF6FAFD59A55}" srcOrd="0" destOrd="0" presId="urn:microsoft.com/office/officeart/2005/8/layout/process2"/>
    <dgm:cxn modelId="{23443526-C6A1-4C0C-8D45-0EB7CC3862E7}" srcId="{F7A5B776-BE2D-4C23-ABED-43EED1CF1C6E}" destId="{E9E851C0-8765-4598-9C76-0FBCA0D969A7}" srcOrd="1" destOrd="0" parTransId="{73EB0926-2D2F-4D7D-8BB4-7F68BBB3E396}" sibTransId="{A27552F5-D1F2-4238-99CA-FCC64858754F}"/>
    <dgm:cxn modelId="{883FE73B-93DA-4A53-97A9-35262D04CB96}" type="presOf" srcId="{A578F0E3-08F1-4373-BE0E-B01EFFFD414E}" destId="{A0E30B91-300F-43CA-BC25-B0C2EF52628F}" srcOrd="1" destOrd="0" presId="urn:microsoft.com/office/officeart/2005/8/layout/process2"/>
    <dgm:cxn modelId="{66E5A65E-86AE-4106-A0D0-DCF487CCDD44}" srcId="{F7A5B776-BE2D-4C23-ABED-43EED1CF1C6E}" destId="{06AEA95D-F0CE-4E3C-92E4-509A2E5A25A5}" srcOrd="0" destOrd="0" parTransId="{DB6152D8-ED97-459D-B301-68FDFC6B0D49}" sibTransId="{8251D992-743B-4171-9EE5-568AD8E27F40}"/>
    <dgm:cxn modelId="{5CCD2563-5A05-4C24-B8D6-2B27ED86309B}" type="presOf" srcId="{06AEA95D-F0CE-4E3C-92E4-509A2E5A25A5}" destId="{93D9C7D0-7127-405F-8C27-9DEB9F131AA0}" srcOrd="0" destOrd="0" presId="urn:microsoft.com/office/officeart/2005/8/layout/process2"/>
    <dgm:cxn modelId="{2994E548-0E1B-4E8E-A413-73015BBEF5DD}" type="presOf" srcId="{E9E851C0-8765-4598-9C76-0FBCA0D969A7}" destId="{9F16D7C9-97F8-48CA-BB74-6C876681927D}" srcOrd="0" destOrd="0" presId="urn:microsoft.com/office/officeart/2005/8/layout/process2"/>
    <dgm:cxn modelId="{B47FDF72-AE5D-4CC9-BE8A-E2DC56F4AF7B}" srcId="{F7A5B776-BE2D-4C23-ABED-43EED1CF1C6E}" destId="{06349043-1013-4821-9239-27E4B0EC76C1}" srcOrd="3" destOrd="0" parTransId="{70A4661C-701A-47D7-B816-42CF479C7EFE}" sibTransId="{FE944686-0EEC-4988-B25E-6DD4A53DAFDF}"/>
    <dgm:cxn modelId="{180EAB74-4432-4CC6-A51A-77D8AA935D26}" srcId="{F7A5B776-BE2D-4C23-ABED-43EED1CF1C6E}" destId="{BB9D0766-0E94-4A5E-BB87-12344402DE65}" srcOrd="2" destOrd="0" parTransId="{B285781A-1FDF-448F-AA61-61993A352B99}" sibTransId="{A578F0E3-08F1-4373-BE0E-B01EFFFD414E}"/>
    <dgm:cxn modelId="{7C5CE29C-2189-4942-92EB-FA61398360F3}" type="presOf" srcId="{A27552F5-D1F2-4238-99CA-FCC64858754F}" destId="{6AA2730E-FB7B-4832-B4B4-D1A8E2A4A859}" srcOrd="1" destOrd="0" presId="urn:microsoft.com/office/officeart/2005/8/layout/process2"/>
    <dgm:cxn modelId="{FE7F60A1-E84E-4004-904E-0927BC9917EB}" type="presOf" srcId="{A27552F5-D1F2-4238-99CA-FCC64858754F}" destId="{0D8473FD-0522-4FAD-A7D0-5542F3BB310A}" srcOrd="0" destOrd="0" presId="urn:microsoft.com/office/officeart/2005/8/layout/process2"/>
    <dgm:cxn modelId="{E41D19D1-F4B7-494C-8E38-BD43065BB4F7}" srcId="{F7A5B776-BE2D-4C23-ABED-43EED1CF1C6E}" destId="{FE66BA45-710B-4806-89C5-FF79421D61C5}" srcOrd="4" destOrd="0" parTransId="{94F9B804-A087-4BF2-88BD-7F973EFDB622}" sibTransId="{7F0E8A87-02D8-441D-AF2E-901C63DC418F}"/>
    <dgm:cxn modelId="{407239D4-AB73-45AA-8F35-954D1F1FB892}" type="presOf" srcId="{A578F0E3-08F1-4373-BE0E-B01EFFFD414E}" destId="{6864FED6-FC7B-4CC0-8001-D9397D82E8D8}" srcOrd="0" destOrd="0" presId="urn:microsoft.com/office/officeart/2005/8/layout/process2"/>
    <dgm:cxn modelId="{8BF0E9E8-D228-49D1-837F-C79869F8F62B}" type="presOf" srcId="{FE944686-0EEC-4988-B25E-6DD4A53DAFDF}" destId="{093797F7-7D8D-4B45-8AE1-BB4574268422}" srcOrd="1" destOrd="0" presId="urn:microsoft.com/office/officeart/2005/8/layout/process2"/>
    <dgm:cxn modelId="{7CCF50F0-02AC-44E0-8595-981F2D6D6F6C}" type="presOf" srcId="{F7A5B776-BE2D-4C23-ABED-43EED1CF1C6E}" destId="{9766C981-34B4-4734-BDB3-8EB2BDD68B67}" srcOrd="0" destOrd="0" presId="urn:microsoft.com/office/officeart/2005/8/layout/process2"/>
    <dgm:cxn modelId="{1C1DB5F3-7DE9-4E7A-860E-BB456C85BC15}" type="presOf" srcId="{8251D992-743B-4171-9EE5-568AD8E27F40}" destId="{025B0BEE-B17C-4E33-8DA4-7770C2503F47}" srcOrd="0" destOrd="0" presId="urn:microsoft.com/office/officeart/2005/8/layout/process2"/>
    <dgm:cxn modelId="{59163369-DF37-4D88-A56A-28A9AC2B0476}" type="presParOf" srcId="{9766C981-34B4-4734-BDB3-8EB2BDD68B67}" destId="{93D9C7D0-7127-405F-8C27-9DEB9F131AA0}" srcOrd="0" destOrd="0" presId="urn:microsoft.com/office/officeart/2005/8/layout/process2"/>
    <dgm:cxn modelId="{4871EDAC-D48D-46A4-AA2A-1161DEAE3B2C}" type="presParOf" srcId="{9766C981-34B4-4734-BDB3-8EB2BDD68B67}" destId="{025B0BEE-B17C-4E33-8DA4-7770C2503F47}" srcOrd="1" destOrd="0" presId="urn:microsoft.com/office/officeart/2005/8/layout/process2"/>
    <dgm:cxn modelId="{3540DE08-5215-4928-A214-4A006A79E7AD}" type="presParOf" srcId="{025B0BEE-B17C-4E33-8DA4-7770C2503F47}" destId="{1239547E-A3D0-492D-9162-93DE78F73B7D}" srcOrd="0" destOrd="0" presId="urn:microsoft.com/office/officeart/2005/8/layout/process2"/>
    <dgm:cxn modelId="{ED5C8F35-51C2-4ADA-A68C-F35AD255168B}" type="presParOf" srcId="{9766C981-34B4-4734-BDB3-8EB2BDD68B67}" destId="{9F16D7C9-97F8-48CA-BB74-6C876681927D}" srcOrd="2" destOrd="0" presId="urn:microsoft.com/office/officeart/2005/8/layout/process2"/>
    <dgm:cxn modelId="{D20E4C5A-569A-4795-8C1F-3B3945BA01FA}" type="presParOf" srcId="{9766C981-34B4-4734-BDB3-8EB2BDD68B67}" destId="{0D8473FD-0522-4FAD-A7D0-5542F3BB310A}" srcOrd="3" destOrd="0" presId="urn:microsoft.com/office/officeart/2005/8/layout/process2"/>
    <dgm:cxn modelId="{5048F908-433A-4297-9D89-55FDDA3336C0}" type="presParOf" srcId="{0D8473FD-0522-4FAD-A7D0-5542F3BB310A}" destId="{6AA2730E-FB7B-4832-B4B4-D1A8E2A4A859}" srcOrd="0" destOrd="0" presId="urn:microsoft.com/office/officeart/2005/8/layout/process2"/>
    <dgm:cxn modelId="{18FA5223-AF22-43C8-AB40-DA313504E240}" type="presParOf" srcId="{9766C981-34B4-4734-BDB3-8EB2BDD68B67}" destId="{A59C2093-C6ED-4B38-8FD4-5F69EEF07C1E}" srcOrd="4" destOrd="0" presId="urn:microsoft.com/office/officeart/2005/8/layout/process2"/>
    <dgm:cxn modelId="{97101A72-A9BB-4E50-965A-B6EE6A02DF52}" type="presParOf" srcId="{9766C981-34B4-4734-BDB3-8EB2BDD68B67}" destId="{6864FED6-FC7B-4CC0-8001-D9397D82E8D8}" srcOrd="5" destOrd="0" presId="urn:microsoft.com/office/officeart/2005/8/layout/process2"/>
    <dgm:cxn modelId="{D53331B5-9AE0-49C6-9827-2170BAD36C55}" type="presParOf" srcId="{6864FED6-FC7B-4CC0-8001-D9397D82E8D8}" destId="{A0E30B91-300F-43CA-BC25-B0C2EF52628F}" srcOrd="0" destOrd="0" presId="urn:microsoft.com/office/officeart/2005/8/layout/process2"/>
    <dgm:cxn modelId="{FBAA31D4-ADCA-4659-B0AD-9BAE3210575F}" type="presParOf" srcId="{9766C981-34B4-4734-BDB3-8EB2BDD68B67}" destId="{27BD67CF-47A5-4CE4-A7F2-EF6FAFD59A55}" srcOrd="6" destOrd="0" presId="urn:microsoft.com/office/officeart/2005/8/layout/process2"/>
    <dgm:cxn modelId="{3CF3155F-0450-42CF-B0F7-F4996E54E4A6}" type="presParOf" srcId="{9766C981-34B4-4734-BDB3-8EB2BDD68B67}" destId="{BBD41EFE-38CD-4BAA-8251-5EC176E4017C}" srcOrd="7" destOrd="0" presId="urn:microsoft.com/office/officeart/2005/8/layout/process2"/>
    <dgm:cxn modelId="{35310682-5EC4-4ABC-A346-AA8B4FE1C73C}" type="presParOf" srcId="{BBD41EFE-38CD-4BAA-8251-5EC176E4017C}" destId="{093797F7-7D8D-4B45-8AE1-BB4574268422}" srcOrd="0" destOrd="0" presId="urn:microsoft.com/office/officeart/2005/8/layout/process2"/>
    <dgm:cxn modelId="{57203682-9100-4DED-AE96-850C5A7719F4}" type="presParOf" srcId="{9766C981-34B4-4734-BDB3-8EB2BDD68B67}" destId="{159675E7-3D00-4F58-922B-2610E5EEF68C}" srcOrd="8" destOrd="0" presId="urn:microsoft.com/office/officeart/2005/8/layout/process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E2CDB640-001E-4005-BCA6-6446DFDBF248}" type="doc">
      <dgm:prSet loTypeId="urn:microsoft.com/office/officeart/2005/8/layout/process2" loCatId="process" qsTypeId="urn:microsoft.com/office/officeart/2005/8/quickstyle/simple4" qsCatId="simple" csTypeId="urn:microsoft.com/office/officeart/2005/8/colors/accent1_2" csCatId="accent1" phldr="1"/>
      <dgm:spPr/>
    </dgm:pt>
    <dgm:pt modelId="{50256246-167F-47CF-9B7A-487F631C8A9B}">
      <dgm:prSet phldrT="[Text]"/>
      <dgm:spPr/>
      <dgm:t>
        <a:bodyPr/>
        <a:lstStyle/>
        <a:p>
          <a:pPr>
            <a:buNone/>
          </a:pPr>
          <a:r>
            <a:rPr lang="en-IN" dirty="0"/>
            <a:t>Tokyo Weather Data</a:t>
          </a:r>
        </a:p>
      </dgm:t>
    </dgm:pt>
    <dgm:pt modelId="{525522F4-3FD8-4C36-8FB3-1EA8F8BD56C2}" type="parTrans" cxnId="{C837D16B-A528-481F-BE4B-B128E824A064}">
      <dgm:prSet/>
      <dgm:spPr/>
      <dgm:t>
        <a:bodyPr/>
        <a:lstStyle/>
        <a:p>
          <a:endParaRPr lang="en-IN"/>
        </a:p>
      </dgm:t>
    </dgm:pt>
    <dgm:pt modelId="{034485F4-E0F9-4A9C-B038-01ADF248B77C}" type="sibTrans" cxnId="{C837D16B-A528-481F-BE4B-B128E824A064}">
      <dgm:prSet/>
      <dgm:spPr/>
      <dgm:t>
        <a:bodyPr/>
        <a:lstStyle/>
        <a:p>
          <a:endParaRPr lang="en-IN"/>
        </a:p>
      </dgm:t>
    </dgm:pt>
    <dgm:pt modelId="{42C84A83-E680-432E-9CC3-F4894C47FE14}">
      <dgm:prSet phldrT="[Text]"/>
      <dgm:spPr/>
      <dgm:t>
        <a:bodyPr/>
        <a:lstStyle/>
        <a:p>
          <a:pPr>
            <a:buNone/>
          </a:pPr>
          <a:r>
            <a:rPr lang="en-IN" dirty="0"/>
            <a:t>Daily Aggregation</a:t>
          </a:r>
        </a:p>
      </dgm:t>
    </dgm:pt>
    <dgm:pt modelId="{55D46DA8-33B9-4B56-B763-4A9A8ABF6E8A}" type="parTrans" cxnId="{8D2F9DF3-4485-4CFC-9143-9A1CC2DA9BFA}">
      <dgm:prSet/>
      <dgm:spPr/>
      <dgm:t>
        <a:bodyPr/>
        <a:lstStyle/>
        <a:p>
          <a:endParaRPr lang="en-IN"/>
        </a:p>
      </dgm:t>
    </dgm:pt>
    <dgm:pt modelId="{A7813E33-73C9-4E34-8379-EE6FB4E22EBF}" type="sibTrans" cxnId="{8D2F9DF3-4485-4CFC-9143-9A1CC2DA9BFA}">
      <dgm:prSet/>
      <dgm:spPr/>
      <dgm:t>
        <a:bodyPr/>
        <a:lstStyle/>
        <a:p>
          <a:endParaRPr lang="en-IN"/>
        </a:p>
      </dgm:t>
    </dgm:pt>
    <dgm:pt modelId="{488FE38A-05C9-4B2B-9358-A8E6785D0E1F}">
      <dgm:prSet phldrT="[Text]"/>
      <dgm:spPr/>
      <dgm:t>
        <a:bodyPr/>
        <a:lstStyle/>
        <a:p>
          <a:pPr>
            <a:buNone/>
          </a:pPr>
          <a:r>
            <a:rPr lang="en-US" dirty="0"/>
            <a:t>Feature Engineering</a:t>
          </a:r>
          <a:br>
            <a:rPr lang="en-US" dirty="0"/>
          </a:br>
          <a:r>
            <a:rPr lang="en-US" dirty="0"/>
            <a:t>(Lag + Rolling Features)</a:t>
          </a:r>
          <a:endParaRPr lang="en-IN" dirty="0"/>
        </a:p>
      </dgm:t>
    </dgm:pt>
    <dgm:pt modelId="{01DCBF41-7E59-467D-8483-6FBE267541B1}" type="parTrans" cxnId="{12B9BA19-85D9-4D01-B525-2D0B8050A979}">
      <dgm:prSet/>
      <dgm:spPr/>
      <dgm:t>
        <a:bodyPr/>
        <a:lstStyle/>
        <a:p>
          <a:endParaRPr lang="en-IN"/>
        </a:p>
      </dgm:t>
    </dgm:pt>
    <dgm:pt modelId="{CA1E1C25-7B60-4121-92F2-7995B32C604B}" type="sibTrans" cxnId="{12B9BA19-85D9-4D01-B525-2D0B8050A979}">
      <dgm:prSet/>
      <dgm:spPr/>
      <dgm:t>
        <a:bodyPr/>
        <a:lstStyle/>
        <a:p>
          <a:endParaRPr lang="en-IN"/>
        </a:p>
      </dgm:t>
    </dgm:pt>
    <dgm:pt modelId="{1FE12360-43DE-4F50-AB4E-3050D60F7115}">
      <dgm:prSet phldrT="[Text]"/>
      <dgm:spPr/>
      <dgm:t>
        <a:bodyPr/>
        <a:lstStyle/>
        <a:p>
          <a:pPr>
            <a:buNone/>
          </a:pPr>
          <a:r>
            <a:rPr lang="en-IN" dirty="0"/>
            <a:t>Train/Test Split</a:t>
          </a:r>
        </a:p>
      </dgm:t>
    </dgm:pt>
    <dgm:pt modelId="{AD6125FE-F8EA-43B5-A24C-1BF7AB3A5CD8}" type="parTrans" cxnId="{61A1E86A-5932-4FF1-858B-2C99393E73B2}">
      <dgm:prSet/>
      <dgm:spPr/>
      <dgm:t>
        <a:bodyPr/>
        <a:lstStyle/>
        <a:p>
          <a:endParaRPr lang="en-IN"/>
        </a:p>
      </dgm:t>
    </dgm:pt>
    <dgm:pt modelId="{8F8098FB-F3DE-4827-A73E-8777D0425770}" type="sibTrans" cxnId="{61A1E86A-5932-4FF1-858B-2C99393E73B2}">
      <dgm:prSet/>
      <dgm:spPr/>
      <dgm:t>
        <a:bodyPr/>
        <a:lstStyle/>
        <a:p>
          <a:endParaRPr lang="en-IN"/>
        </a:p>
      </dgm:t>
    </dgm:pt>
    <dgm:pt modelId="{C1DEFD3E-2947-44ED-9C08-E2E4C3CFEBEB}">
      <dgm:prSet phldrT="[Text]"/>
      <dgm:spPr/>
      <dgm:t>
        <a:bodyPr/>
        <a:lstStyle/>
        <a:p>
          <a:pPr>
            <a:buNone/>
          </a:pPr>
          <a:r>
            <a:rPr lang="en-IN" dirty="0"/>
            <a:t>Forecasting Models</a:t>
          </a:r>
        </a:p>
      </dgm:t>
    </dgm:pt>
    <dgm:pt modelId="{D025BCC1-03C9-4D99-A63F-DDEB53615810}" type="parTrans" cxnId="{55795604-E68B-4C47-928E-095A1F18AE47}">
      <dgm:prSet/>
      <dgm:spPr/>
      <dgm:t>
        <a:bodyPr/>
        <a:lstStyle/>
        <a:p>
          <a:endParaRPr lang="en-IN"/>
        </a:p>
      </dgm:t>
    </dgm:pt>
    <dgm:pt modelId="{74883A3C-6A33-43CE-ABEC-C619BBCA0C99}" type="sibTrans" cxnId="{55795604-E68B-4C47-928E-095A1F18AE47}">
      <dgm:prSet/>
      <dgm:spPr/>
      <dgm:t>
        <a:bodyPr/>
        <a:lstStyle/>
        <a:p>
          <a:endParaRPr lang="en-IN"/>
        </a:p>
      </dgm:t>
    </dgm:pt>
    <dgm:pt modelId="{0169C491-3E95-4BA3-9EFA-1A8FDC9C2BB6}">
      <dgm:prSet phldrT="[Text]"/>
      <dgm:spPr/>
      <dgm:t>
        <a:bodyPr/>
        <a:lstStyle/>
        <a:p>
          <a:pPr>
            <a:buNone/>
          </a:pPr>
          <a:r>
            <a:rPr lang="en-IN" dirty="0"/>
            <a:t>Evaluation &amp; Comparison</a:t>
          </a:r>
        </a:p>
      </dgm:t>
    </dgm:pt>
    <dgm:pt modelId="{2E7EEE21-FBEE-42CE-9B60-01958F8A5780}" type="parTrans" cxnId="{9D1F9395-DF36-45C2-90D0-5F6621E1F70A}">
      <dgm:prSet/>
      <dgm:spPr/>
      <dgm:t>
        <a:bodyPr/>
        <a:lstStyle/>
        <a:p>
          <a:endParaRPr lang="en-IN"/>
        </a:p>
      </dgm:t>
    </dgm:pt>
    <dgm:pt modelId="{6EB0BF7D-06BF-48CC-BD26-C0504E3BBAC6}" type="sibTrans" cxnId="{9D1F9395-DF36-45C2-90D0-5F6621E1F70A}">
      <dgm:prSet/>
      <dgm:spPr/>
      <dgm:t>
        <a:bodyPr/>
        <a:lstStyle/>
        <a:p>
          <a:endParaRPr lang="en-IN"/>
        </a:p>
      </dgm:t>
    </dgm:pt>
    <dgm:pt modelId="{630EB11C-1D30-4F57-AB7A-2026B9F776D5}" type="pres">
      <dgm:prSet presAssocID="{E2CDB640-001E-4005-BCA6-6446DFDBF248}" presName="linearFlow" presStyleCnt="0">
        <dgm:presLayoutVars>
          <dgm:resizeHandles val="exact"/>
        </dgm:presLayoutVars>
      </dgm:prSet>
      <dgm:spPr/>
    </dgm:pt>
    <dgm:pt modelId="{197B1F0A-2887-42FC-B1AD-3B922D3C48B6}" type="pres">
      <dgm:prSet presAssocID="{50256246-167F-47CF-9B7A-487F631C8A9B}" presName="node" presStyleLbl="node1" presStyleIdx="0" presStyleCnt="6">
        <dgm:presLayoutVars>
          <dgm:bulletEnabled val="1"/>
        </dgm:presLayoutVars>
      </dgm:prSet>
      <dgm:spPr/>
    </dgm:pt>
    <dgm:pt modelId="{D2BBFB30-1BF4-4BCC-A471-C01D55594369}" type="pres">
      <dgm:prSet presAssocID="{034485F4-E0F9-4A9C-B038-01ADF248B77C}" presName="sibTrans" presStyleLbl="sibTrans2D1" presStyleIdx="0" presStyleCnt="5"/>
      <dgm:spPr/>
    </dgm:pt>
    <dgm:pt modelId="{EFAC9AA6-5C50-4C51-8C8D-0F4E28932754}" type="pres">
      <dgm:prSet presAssocID="{034485F4-E0F9-4A9C-B038-01ADF248B77C}" presName="connectorText" presStyleLbl="sibTrans2D1" presStyleIdx="0" presStyleCnt="5"/>
      <dgm:spPr/>
    </dgm:pt>
    <dgm:pt modelId="{2EB22F7C-86DC-42C9-8461-C184F314C609}" type="pres">
      <dgm:prSet presAssocID="{42C84A83-E680-432E-9CC3-F4894C47FE14}" presName="node" presStyleLbl="node1" presStyleIdx="1" presStyleCnt="6">
        <dgm:presLayoutVars>
          <dgm:bulletEnabled val="1"/>
        </dgm:presLayoutVars>
      </dgm:prSet>
      <dgm:spPr/>
    </dgm:pt>
    <dgm:pt modelId="{0505EA93-DBB1-4684-BA12-1185910AAADD}" type="pres">
      <dgm:prSet presAssocID="{A7813E33-73C9-4E34-8379-EE6FB4E22EBF}" presName="sibTrans" presStyleLbl="sibTrans2D1" presStyleIdx="1" presStyleCnt="5"/>
      <dgm:spPr/>
    </dgm:pt>
    <dgm:pt modelId="{45203ABD-2050-4B1C-A9C4-F358D7C4854F}" type="pres">
      <dgm:prSet presAssocID="{A7813E33-73C9-4E34-8379-EE6FB4E22EBF}" presName="connectorText" presStyleLbl="sibTrans2D1" presStyleIdx="1" presStyleCnt="5"/>
      <dgm:spPr/>
    </dgm:pt>
    <dgm:pt modelId="{00383424-8E2F-40C4-BF94-2F05BFF8E33F}" type="pres">
      <dgm:prSet presAssocID="{488FE38A-05C9-4B2B-9358-A8E6785D0E1F}" presName="node" presStyleLbl="node1" presStyleIdx="2" presStyleCnt="6">
        <dgm:presLayoutVars>
          <dgm:bulletEnabled val="1"/>
        </dgm:presLayoutVars>
      </dgm:prSet>
      <dgm:spPr/>
    </dgm:pt>
    <dgm:pt modelId="{694B0DFD-4976-4068-A9ED-97C26A5FB655}" type="pres">
      <dgm:prSet presAssocID="{CA1E1C25-7B60-4121-92F2-7995B32C604B}" presName="sibTrans" presStyleLbl="sibTrans2D1" presStyleIdx="2" presStyleCnt="5"/>
      <dgm:spPr/>
    </dgm:pt>
    <dgm:pt modelId="{940B011F-E6E8-43C8-A394-1BC0AAE90E02}" type="pres">
      <dgm:prSet presAssocID="{CA1E1C25-7B60-4121-92F2-7995B32C604B}" presName="connectorText" presStyleLbl="sibTrans2D1" presStyleIdx="2" presStyleCnt="5"/>
      <dgm:spPr/>
    </dgm:pt>
    <dgm:pt modelId="{F9D7AC19-DF40-490F-8CCB-78A2EA4180A7}" type="pres">
      <dgm:prSet presAssocID="{1FE12360-43DE-4F50-AB4E-3050D60F7115}" presName="node" presStyleLbl="node1" presStyleIdx="3" presStyleCnt="6">
        <dgm:presLayoutVars>
          <dgm:bulletEnabled val="1"/>
        </dgm:presLayoutVars>
      </dgm:prSet>
      <dgm:spPr/>
    </dgm:pt>
    <dgm:pt modelId="{223106DB-032A-4AA0-9FBC-8A7A79A2E659}" type="pres">
      <dgm:prSet presAssocID="{8F8098FB-F3DE-4827-A73E-8777D0425770}" presName="sibTrans" presStyleLbl="sibTrans2D1" presStyleIdx="3" presStyleCnt="5"/>
      <dgm:spPr/>
    </dgm:pt>
    <dgm:pt modelId="{DFFB02CD-6CDA-4090-B597-83911DAB9D45}" type="pres">
      <dgm:prSet presAssocID="{8F8098FB-F3DE-4827-A73E-8777D0425770}" presName="connectorText" presStyleLbl="sibTrans2D1" presStyleIdx="3" presStyleCnt="5"/>
      <dgm:spPr/>
    </dgm:pt>
    <dgm:pt modelId="{42A23F79-10F6-4500-82C9-D9097FE59142}" type="pres">
      <dgm:prSet presAssocID="{C1DEFD3E-2947-44ED-9C08-E2E4C3CFEBEB}" presName="node" presStyleLbl="node1" presStyleIdx="4" presStyleCnt="6">
        <dgm:presLayoutVars>
          <dgm:bulletEnabled val="1"/>
        </dgm:presLayoutVars>
      </dgm:prSet>
      <dgm:spPr/>
    </dgm:pt>
    <dgm:pt modelId="{64FB77BA-5623-4051-93D0-086AC9858C9F}" type="pres">
      <dgm:prSet presAssocID="{74883A3C-6A33-43CE-ABEC-C619BBCA0C99}" presName="sibTrans" presStyleLbl="sibTrans2D1" presStyleIdx="4" presStyleCnt="5"/>
      <dgm:spPr/>
    </dgm:pt>
    <dgm:pt modelId="{ADE52146-DD22-43F7-AADC-6A21CDE4C502}" type="pres">
      <dgm:prSet presAssocID="{74883A3C-6A33-43CE-ABEC-C619BBCA0C99}" presName="connectorText" presStyleLbl="sibTrans2D1" presStyleIdx="4" presStyleCnt="5"/>
      <dgm:spPr/>
    </dgm:pt>
    <dgm:pt modelId="{E3FDC0A9-7986-4149-82D5-A207E61A8DE7}" type="pres">
      <dgm:prSet presAssocID="{0169C491-3E95-4BA3-9EFA-1A8FDC9C2BB6}" presName="node" presStyleLbl="node1" presStyleIdx="5" presStyleCnt="6">
        <dgm:presLayoutVars>
          <dgm:bulletEnabled val="1"/>
        </dgm:presLayoutVars>
      </dgm:prSet>
      <dgm:spPr/>
    </dgm:pt>
  </dgm:ptLst>
  <dgm:cxnLst>
    <dgm:cxn modelId="{331E8303-16D1-4407-8B56-1352DB5278BA}" type="presOf" srcId="{42C84A83-E680-432E-9CC3-F4894C47FE14}" destId="{2EB22F7C-86DC-42C9-8461-C184F314C609}" srcOrd="0" destOrd="0" presId="urn:microsoft.com/office/officeart/2005/8/layout/process2"/>
    <dgm:cxn modelId="{55795604-E68B-4C47-928E-095A1F18AE47}" srcId="{E2CDB640-001E-4005-BCA6-6446DFDBF248}" destId="{C1DEFD3E-2947-44ED-9C08-E2E4C3CFEBEB}" srcOrd="4" destOrd="0" parTransId="{D025BCC1-03C9-4D99-A63F-DDEB53615810}" sibTransId="{74883A3C-6A33-43CE-ABEC-C619BBCA0C99}"/>
    <dgm:cxn modelId="{0011F50C-5891-4391-9167-F9FB54CE6E01}" type="presOf" srcId="{034485F4-E0F9-4A9C-B038-01ADF248B77C}" destId="{EFAC9AA6-5C50-4C51-8C8D-0F4E28932754}" srcOrd="1" destOrd="0" presId="urn:microsoft.com/office/officeart/2005/8/layout/process2"/>
    <dgm:cxn modelId="{12B9BA19-85D9-4D01-B525-2D0B8050A979}" srcId="{E2CDB640-001E-4005-BCA6-6446DFDBF248}" destId="{488FE38A-05C9-4B2B-9358-A8E6785D0E1F}" srcOrd="2" destOrd="0" parTransId="{01DCBF41-7E59-467D-8483-6FBE267541B1}" sibTransId="{CA1E1C25-7B60-4121-92F2-7995B32C604B}"/>
    <dgm:cxn modelId="{42543E21-5670-4F00-A627-507E24BDF377}" type="presOf" srcId="{034485F4-E0F9-4A9C-B038-01ADF248B77C}" destId="{D2BBFB30-1BF4-4BCC-A471-C01D55594369}" srcOrd="0" destOrd="0" presId="urn:microsoft.com/office/officeart/2005/8/layout/process2"/>
    <dgm:cxn modelId="{E3ACAD2D-FBE8-426E-8CE0-430202EDF1C5}" type="presOf" srcId="{CA1E1C25-7B60-4121-92F2-7995B32C604B}" destId="{940B011F-E6E8-43C8-A394-1BC0AAE90E02}" srcOrd="1" destOrd="0" presId="urn:microsoft.com/office/officeart/2005/8/layout/process2"/>
    <dgm:cxn modelId="{A3000241-ED85-42BD-9E2D-233CECFEE162}" type="presOf" srcId="{8F8098FB-F3DE-4827-A73E-8777D0425770}" destId="{223106DB-032A-4AA0-9FBC-8A7A79A2E659}" srcOrd="0" destOrd="0" presId="urn:microsoft.com/office/officeart/2005/8/layout/process2"/>
    <dgm:cxn modelId="{00756168-BAF2-41BA-83D4-DAE35A8981C0}" type="presOf" srcId="{E2CDB640-001E-4005-BCA6-6446DFDBF248}" destId="{630EB11C-1D30-4F57-AB7A-2026B9F776D5}" srcOrd="0" destOrd="0" presId="urn:microsoft.com/office/officeart/2005/8/layout/process2"/>
    <dgm:cxn modelId="{61A1E86A-5932-4FF1-858B-2C99393E73B2}" srcId="{E2CDB640-001E-4005-BCA6-6446DFDBF248}" destId="{1FE12360-43DE-4F50-AB4E-3050D60F7115}" srcOrd="3" destOrd="0" parTransId="{AD6125FE-F8EA-43B5-A24C-1BF7AB3A5CD8}" sibTransId="{8F8098FB-F3DE-4827-A73E-8777D0425770}"/>
    <dgm:cxn modelId="{C837D16B-A528-481F-BE4B-B128E824A064}" srcId="{E2CDB640-001E-4005-BCA6-6446DFDBF248}" destId="{50256246-167F-47CF-9B7A-487F631C8A9B}" srcOrd="0" destOrd="0" parTransId="{525522F4-3FD8-4C36-8FB3-1EA8F8BD56C2}" sibTransId="{034485F4-E0F9-4A9C-B038-01ADF248B77C}"/>
    <dgm:cxn modelId="{53AE6A7A-CEBA-4504-B57D-642CABC61DDE}" type="presOf" srcId="{C1DEFD3E-2947-44ED-9C08-E2E4C3CFEBEB}" destId="{42A23F79-10F6-4500-82C9-D9097FE59142}" srcOrd="0" destOrd="0" presId="urn:microsoft.com/office/officeart/2005/8/layout/process2"/>
    <dgm:cxn modelId="{B6F2CA5A-4AAA-4CC5-BC4A-932B73B71B8B}" type="presOf" srcId="{A7813E33-73C9-4E34-8379-EE6FB4E22EBF}" destId="{0505EA93-DBB1-4684-BA12-1185910AAADD}" srcOrd="0" destOrd="0" presId="urn:microsoft.com/office/officeart/2005/8/layout/process2"/>
    <dgm:cxn modelId="{0730817F-FF4C-4221-8603-B7EE541ACE94}" type="presOf" srcId="{0169C491-3E95-4BA3-9EFA-1A8FDC9C2BB6}" destId="{E3FDC0A9-7986-4149-82D5-A207E61A8DE7}" srcOrd="0" destOrd="0" presId="urn:microsoft.com/office/officeart/2005/8/layout/process2"/>
    <dgm:cxn modelId="{0B556093-2193-42C9-BBD9-F9D82C242649}" type="presOf" srcId="{CA1E1C25-7B60-4121-92F2-7995B32C604B}" destId="{694B0DFD-4976-4068-A9ED-97C26A5FB655}" srcOrd="0" destOrd="0" presId="urn:microsoft.com/office/officeart/2005/8/layout/process2"/>
    <dgm:cxn modelId="{9D1F9395-DF36-45C2-90D0-5F6621E1F70A}" srcId="{E2CDB640-001E-4005-BCA6-6446DFDBF248}" destId="{0169C491-3E95-4BA3-9EFA-1A8FDC9C2BB6}" srcOrd="5" destOrd="0" parTransId="{2E7EEE21-FBEE-42CE-9B60-01958F8A5780}" sibTransId="{6EB0BF7D-06BF-48CC-BD26-C0504E3BBAC6}"/>
    <dgm:cxn modelId="{C52907A2-4133-491B-937A-8823CD2A8105}" type="presOf" srcId="{A7813E33-73C9-4E34-8379-EE6FB4E22EBF}" destId="{45203ABD-2050-4B1C-A9C4-F358D7C4854F}" srcOrd="1" destOrd="0" presId="urn:microsoft.com/office/officeart/2005/8/layout/process2"/>
    <dgm:cxn modelId="{7F7C95AE-CCD1-45B1-B911-0FAA4446B2AE}" type="presOf" srcId="{74883A3C-6A33-43CE-ABEC-C619BBCA0C99}" destId="{ADE52146-DD22-43F7-AADC-6A21CDE4C502}" srcOrd="1" destOrd="0" presId="urn:microsoft.com/office/officeart/2005/8/layout/process2"/>
    <dgm:cxn modelId="{DFEFB5B0-1068-4BB1-9F5A-FD8A0AB97712}" type="presOf" srcId="{1FE12360-43DE-4F50-AB4E-3050D60F7115}" destId="{F9D7AC19-DF40-490F-8CCB-78A2EA4180A7}" srcOrd="0" destOrd="0" presId="urn:microsoft.com/office/officeart/2005/8/layout/process2"/>
    <dgm:cxn modelId="{0486BCD4-9F6E-4C38-810F-1BA8489D2247}" type="presOf" srcId="{74883A3C-6A33-43CE-ABEC-C619BBCA0C99}" destId="{64FB77BA-5623-4051-93D0-086AC9858C9F}" srcOrd="0" destOrd="0" presId="urn:microsoft.com/office/officeart/2005/8/layout/process2"/>
    <dgm:cxn modelId="{C9A470E6-5C0B-48A2-99E2-9F53C49EEF0C}" type="presOf" srcId="{50256246-167F-47CF-9B7A-487F631C8A9B}" destId="{197B1F0A-2887-42FC-B1AD-3B922D3C48B6}" srcOrd="0" destOrd="0" presId="urn:microsoft.com/office/officeart/2005/8/layout/process2"/>
    <dgm:cxn modelId="{5F0DFDE9-4916-4F75-A47A-D3ED5CF5C232}" type="presOf" srcId="{8F8098FB-F3DE-4827-A73E-8777D0425770}" destId="{DFFB02CD-6CDA-4090-B597-83911DAB9D45}" srcOrd="1" destOrd="0" presId="urn:microsoft.com/office/officeart/2005/8/layout/process2"/>
    <dgm:cxn modelId="{8D2F9DF3-4485-4CFC-9143-9A1CC2DA9BFA}" srcId="{E2CDB640-001E-4005-BCA6-6446DFDBF248}" destId="{42C84A83-E680-432E-9CC3-F4894C47FE14}" srcOrd="1" destOrd="0" parTransId="{55D46DA8-33B9-4B56-B763-4A9A8ABF6E8A}" sibTransId="{A7813E33-73C9-4E34-8379-EE6FB4E22EBF}"/>
    <dgm:cxn modelId="{81F471FB-40C1-42C5-9AD1-A1A3FA107E64}" type="presOf" srcId="{488FE38A-05C9-4B2B-9358-A8E6785D0E1F}" destId="{00383424-8E2F-40C4-BF94-2F05BFF8E33F}" srcOrd="0" destOrd="0" presId="urn:microsoft.com/office/officeart/2005/8/layout/process2"/>
    <dgm:cxn modelId="{1CD513E2-6A2C-45D4-A8D8-954F5F4DD49A}" type="presParOf" srcId="{630EB11C-1D30-4F57-AB7A-2026B9F776D5}" destId="{197B1F0A-2887-42FC-B1AD-3B922D3C48B6}" srcOrd="0" destOrd="0" presId="urn:microsoft.com/office/officeart/2005/8/layout/process2"/>
    <dgm:cxn modelId="{AE0C6B8A-0D44-4FF2-8CAC-2A4768C22320}" type="presParOf" srcId="{630EB11C-1D30-4F57-AB7A-2026B9F776D5}" destId="{D2BBFB30-1BF4-4BCC-A471-C01D55594369}" srcOrd="1" destOrd="0" presId="urn:microsoft.com/office/officeart/2005/8/layout/process2"/>
    <dgm:cxn modelId="{6FC06570-42E8-4F32-AAE1-5D51FE2BD28C}" type="presParOf" srcId="{D2BBFB30-1BF4-4BCC-A471-C01D55594369}" destId="{EFAC9AA6-5C50-4C51-8C8D-0F4E28932754}" srcOrd="0" destOrd="0" presId="urn:microsoft.com/office/officeart/2005/8/layout/process2"/>
    <dgm:cxn modelId="{36C7A452-342E-46E2-AEFA-3B1124B4B2AE}" type="presParOf" srcId="{630EB11C-1D30-4F57-AB7A-2026B9F776D5}" destId="{2EB22F7C-86DC-42C9-8461-C184F314C609}" srcOrd="2" destOrd="0" presId="urn:microsoft.com/office/officeart/2005/8/layout/process2"/>
    <dgm:cxn modelId="{55B6B287-71B6-4F6A-8334-68D2CAE65F5F}" type="presParOf" srcId="{630EB11C-1D30-4F57-AB7A-2026B9F776D5}" destId="{0505EA93-DBB1-4684-BA12-1185910AAADD}" srcOrd="3" destOrd="0" presId="urn:microsoft.com/office/officeart/2005/8/layout/process2"/>
    <dgm:cxn modelId="{54C44891-1AAE-46CA-8F1D-80D6E83C13F4}" type="presParOf" srcId="{0505EA93-DBB1-4684-BA12-1185910AAADD}" destId="{45203ABD-2050-4B1C-A9C4-F358D7C4854F}" srcOrd="0" destOrd="0" presId="urn:microsoft.com/office/officeart/2005/8/layout/process2"/>
    <dgm:cxn modelId="{08E9785C-4FBD-4AB0-8C24-A5D6EDEC6654}" type="presParOf" srcId="{630EB11C-1D30-4F57-AB7A-2026B9F776D5}" destId="{00383424-8E2F-40C4-BF94-2F05BFF8E33F}" srcOrd="4" destOrd="0" presId="urn:microsoft.com/office/officeart/2005/8/layout/process2"/>
    <dgm:cxn modelId="{B19D755A-1D1F-4ED6-BE97-A998F9E119AB}" type="presParOf" srcId="{630EB11C-1D30-4F57-AB7A-2026B9F776D5}" destId="{694B0DFD-4976-4068-A9ED-97C26A5FB655}" srcOrd="5" destOrd="0" presId="urn:microsoft.com/office/officeart/2005/8/layout/process2"/>
    <dgm:cxn modelId="{77E9D98E-7CEB-48DC-AD2E-C6625D5B23F5}" type="presParOf" srcId="{694B0DFD-4976-4068-A9ED-97C26A5FB655}" destId="{940B011F-E6E8-43C8-A394-1BC0AAE90E02}" srcOrd="0" destOrd="0" presId="urn:microsoft.com/office/officeart/2005/8/layout/process2"/>
    <dgm:cxn modelId="{442BA5E3-ECB4-4AA2-B4DC-F5FA9017B2B7}" type="presParOf" srcId="{630EB11C-1D30-4F57-AB7A-2026B9F776D5}" destId="{F9D7AC19-DF40-490F-8CCB-78A2EA4180A7}" srcOrd="6" destOrd="0" presId="urn:microsoft.com/office/officeart/2005/8/layout/process2"/>
    <dgm:cxn modelId="{780B70BE-CD83-4223-9485-3673AC7A3367}" type="presParOf" srcId="{630EB11C-1D30-4F57-AB7A-2026B9F776D5}" destId="{223106DB-032A-4AA0-9FBC-8A7A79A2E659}" srcOrd="7" destOrd="0" presId="urn:microsoft.com/office/officeart/2005/8/layout/process2"/>
    <dgm:cxn modelId="{FE1A92DC-BFBA-4089-A673-CE46A47814A5}" type="presParOf" srcId="{223106DB-032A-4AA0-9FBC-8A7A79A2E659}" destId="{DFFB02CD-6CDA-4090-B597-83911DAB9D45}" srcOrd="0" destOrd="0" presId="urn:microsoft.com/office/officeart/2005/8/layout/process2"/>
    <dgm:cxn modelId="{A3693BE3-E562-459D-8FD4-35361934CFBC}" type="presParOf" srcId="{630EB11C-1D30-4F57-AB7A-2026B9F776D5}" destId="{42A23F79-10F6-4500-82C9-D9097FE59142}" srcOrd="8" destOrd="0" presId="urn:microsoft.com/office/officeart/2005/8/layout/process2"/>
    <dgm:cxn modelId="{FC651303-59EC-4842-9EE4-3540F1220FB5}" type="presParOf" srcId="{630EB11C-1D30-4F57-AB7A-2026B9F776D5}" destId="{64FB77BA-5623-4051-93D0-086AC9858C9F}" srcOrd="9" destOrd="0" presId="urn:microsoft.com/office/officeart/2005/8/layout/process2"/>
    <dgm:cxn modelId="{CD5AB475-36B7-421B-8AE0-22FD1EF6C23D}" type="presParOf" srcId="{64FB77BA-5623-4051-93D0-086AC9858C9F}" destId="{ADE52146-DD22-43F7-AADC-6A21CDE4C502}" srcOrd="0" destOrd="0" presId="urn:microsoft.com/office/officeart/2005/8/layout/process2"/>
    <dgm:cxn modelId="{00C0BC51-12D9-43C8-8C04-0D02E88AE2DA}" type="presParOf" srcId="{630EB11C-1D30-4F57-AB7A-2026B9F776D5}" destId="{E3FDC0A9-7986-4149-82D5-A207E61A8DE7}" srcOrd="10" destOrd="0" presId="urn:microsoft.com/office/officeart/2005/8/layout/process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3D9C7D0-7127-405F-8C27-9DEB9F131AA0}">
      <dsp:nvSpPr>
        <dsp:cNvPr id="0" name=""/>
        <dsp:cNvSpPr/>
      </dsp:nvSpPr>
      <dsp:spPr>
        <a:xfrm>
          <a:off x="1241635" y="580"/>
          <a:ext cx="1410303" cy="679664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800" kern="1200" dirty="0"/>
            <a:t>Raw Data</a:t>
          </a:r>
        </a:p>
      </dsp:txBody>
      <dsp:txXfrm>
        <a:off x="1261542" y="20487"/>
        <a:ext cx="1370489" cy="639850"/>
      </dsp:txXfrm>
    </dsp:sp>
    <dsp:sp modelId="{025B0BEE-B17C-4E33-8DA4-7770C2503F47}">
      <dsp:nvSpPr>
        <dsp:cNvPr id="0" name=""/>
        <dsp:cNvSpPr/>
      </dsp:nvSpPr>
      <dsp:spPr>
        <a:xfrm rot="5400000">
          <a:off x="1819350" y="697236"/>
          <a:ext cx="254874" cy="305848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IN" sz="1300" kern="1200"/>
        </a:p>
      </dsp:txBody>
      <dsp:txXfrm rot="-5400000">
        <a:off x="1855033" y="722723"/>
        <a:ext cx="183508" cy="178412"/>
      </dsp:txXfrm>
    </dsp:sp>
    <dsp:sp modelId="{9F16D7C9-97F8-48CA-BB74-6C876681927D}">
      <dsp:nvSpPr>
        <dsp:cNvPr id="0" name=""/>
        <dsp:cNvSpPr/>
      </dsp:nvSpPr>
      <dsp:spPr>
        <a:xfrm>
          <a:off x="1241635" y="1020077"/>
          <a:ext cx="1410303" cy="679664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800" kern="1200" dirty="0"/>
            <a:t>Cleaning</a:t>
          </a:r>
        </a:p>
      </dsp:txBody>
      <dsp:txXfrm>
        <a:off x="1261542" y="1039984"/>
        <a:ext cx="1370489" cy="639850"/>
      </dsp:txXfrm>
    </dsp:sp>
    <dsp:sp modelId="{0D8473FD-0522-4FAD-A7D0-5542F3BB310A}">
      <dsp:nvSpPr>
        <dsp:cNvPr id="0" name=""/>
        <dsp:cNvSpPr/>
      </dsp:nvSpPr>
      <dsp:spPr>
        <a:xfrm rot="5400000">
          <a:off x="1819350" y="1716733"/>
          <a:ext cx="254874" cy="305848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IN" sz="1300" kern="1200"/>
        </a:p>
      </dsp:txBody>
      <dsp:txXfrm rot="-5400000">
        <a:off x="1855033" y="1742220"/>
        <a:ext cx="183508" cy="178412"/>
      </dsp:txXfrm>
    </dsp:sp>
    <dsp:sp modelId="{A59C2093-C6ED-4B38-8FD4-5F69EEF07C1E}">
      <dsp:nvSpPr>
        <dsp:cNvPr id="0" name=""/>
        <dsp:cNvSpPr/>
      </dsp:nvSpPr>
      <dsp:spPr>
        <a:xfrm>
          <a:off x="1241635" y="2039573"/>
          <a:ext cx="1410303" cy="679664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800" kern="1200" dirty="0"/>
            <a:t>Feature Engineering</a:t>
          </a:r>
        </a:p>
      </dsp:txBody>
      <dsp:txXfrm>
        <a:off x="1261542" y="2059480"/>
        <a:ext cx="1370489" cy="639850"/>
      </dsp:txXfrm>
    </dsp:sp>
    <dsp:sp modelId="{6864FED6-FC7B-4CC0-8001-D9397D82E8D8}">
      <dsp:nvSpPr>
        <dsp:cNvPr id="0" name=""/>
        <dsp:cNvSpPr/>
      </dsp:nvSpPr>
      <dsp:spPr>
        <a:xfrm rot="5400000">
          <a:off x="1819350" y="2736229"/>
          <a:ext cx="254874" cy="305848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IN" sz="1300" kern="1200"/>
        </a:p>
      </dsp:txBody>
      <dsp:txXfrm rot="-5400000">
        <a:off x="1855033" y="2761716"/>
        <a:ext cx="183508" cy="178412"/>
      </dsp:txXfrm>
    </dsp:sp>
    <dsp:sp modelId="{27BD67CF-47A5-4CE4-A7F2-EF6FAFD59A55}">
      <dsp:nvSpPr>
        <dsp:cNvPr id="0" name=""/>
        <dsp:cNvSpPr/>
      </dsp:nvSpPr>
      <dsp:spPr>
        <a:xfrm>
          <a:off x="1241635" y="3059070"/>
          <a:ext cx="1410303" cy="679664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800" kern="1200" dirty="0"/>
            <a:t>EDA &amp; Analysis</a:t>
          </a:r>
        </a:p>
      </dsp:txBody>
      <dsp:txXfrm>
        <a:off x="1261542" y="3078977"/>
        <a:ext cx="1370489" cy="639850"/>
      </dsp:txXfrm>
    </dsp:sp>
    <dsp:sp modelId="{BBD41EFE-38CD-4BAA-8251-5EC176E4017C}">
      <dsp:nvSpPr>
        <dsp:cNvPr id="0" name=""/>
        <dsp:cNvSpPr/>
      </dsp:nvSpPr>
      <dsp:spPr>
        <a:xfrm rot="5400000">
          <a:off x="1819350" y="3755726"/>
          <a:ext cx="254874" cy="305848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IN" sz="1300" kern="1200"/>
        </a:p>
      </dsp:txBody>
      <dsp:txXfrm rot="-5400000">
        <a:off x="1855033" y="3781213"/>
        <a:ext cx="183508" cy="178412"/>
      </dsp:txXfrm>
    </dsp:sp>
    <dsp:sp modelId="{159675E7-3D00-4F58-922B-2610E5EEF68C}">
      <dsp:nvSpPr>
        <dsp:cNvPr id="0" name=""/>
        <dsp:cNvSpPr/>
      </dsp:nvSpPr>
      <dsp:spPr>
        <a:xfrm>
          <a:off x="1241635" y="4078566"/>
          <a:ext cx="1410303" cy="679664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800" kern="1200" dirty="0"/>
            <a:t>Forecasting Models</a:t>
          </a:r>
        </a:p>
      </dsp:txBody>
      <dsp:txXfrm>
        <a:off x="1261542" y="4098473"/>
        <a:ext cx="1370489" cy="639850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97B1F0A-2887-42FC-B1AD-3B922D3C48B6}">
      <dsp:nvSpPr>
        <dsp:cNvPr id="0" name=""/>
        <dsp:cNvSpPr/>
      </dsp:nvSpPr>
      <dsp:spPr>
        <a:xfrm>
          <a:off x="1665722" y="1928"/>
          <a:ext cx="2168371" cy="571564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tint val="96000"/>
                <a:lumMod val="100000"/>
              </a:schemeClr>
            </a:gs>
            <a:gs pos="78000">
              <a:schemeClr val="accent1">
                <a:hueOff val="0"/>
                <a:satOff val="0"/>
                <a:lumOff val="0"/>
                <a:alphaOff val="0"/>
                <a:shade val="94000"/>
                <a:lumMod val="94000"/>
              </a:schemeClr>
            </a:gs>
          </a:gsLst>
          <a:lin ang="5400000" scaled="0"/>
        </a:gradFill>
        <a:ln>
          <a:noFill/>
        </a:ln>
        <a:effectLst>
          <a:outerShdw blurRad="38100" dist="25400" dir="5400000" rotWithShape="0">
            <a:srgbClr val="000000">
              <a:alpha val="3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57150" tIns="57150" rIns="57150" bIns="5715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500" kern="1200" dirty="0"/>
            <a:t>Tokyo Weather Data</a:t>
          </a:r>
        </a:p>
      </dsp:txBody>
      <dsp:txXfrm>
        <a:off x="1682463" y="18669"/>
        <a:ext cx="2134889" cy="538082"/>
      </dsp:txXfrm>
    </dsp:sp>
    <dsp:sp modelId="{D2BBFB30-1BF4-4BCC-A471-C01D55594369}">
      <dsp:nvSpPr>
        <dsp:cNvPr id="0" name=""/>
        <dsp:cNvSpPr/>
      </dsp:nvSpPr>
      <dsp:spPr>
        <a:xfrm rot="5400000">
          <a:off x="2642740" y="587782"/>
          <a:ext cx="214336" cy="257203"/>
        </a:xfrm>
        <a:prstGeom prst="rightArrow">
          <a:avLst>
            <a:gd name="adj1" fmla="val 60000"/>
            <a:gd name="adj2" fmla="val 50000"/>
          </a:avLst>
        </a:prstGeom>
        <a:gradFill rotWithShape="0">
          <a:gsLst>
            <a:gs pos="0">
              <a:schemeClr val="accent1">
                <a:tint val="60000"/>
                <a:hueOff val="0"/>
                <a:satOff val="0"/>
                <a:lumOff val="0"/>
                <a:alphaOff val="0"/>
                <a:tint val="96000"/>
                <a:lumMod val="100000"/>
              </a:schemeClr>
            </a:gs>
            <a:gs pos="78000">
              <a:schemeClr val="accent1">
                <a:tint val="60000"/>
                <a:hueOff val="0"/>
                <a:satOff val="0"/>
                <a:lumOff val="0"/>
                <a:alphaOff val="0"/>
                <a:shade val="94000"/>
                <a:lumMod val="94000"/>
              </a:schemeClr>
            </a:gs>
          </a:gsLst>
          <a:lin ang="5400000" scaled="0"/>
        </a:gradFill>
        <a:ln>
          <a:noFill/>
        </a:ln>
        <a:effectLst>
          <a:outerShdw blurRad="38100" dist="25400" dir="5400000" rotWithShape="0">
            <a:srgbClr val="000000">
              <a:alpha val="3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IN" sz="1100" kern="1200"/>
        </a:p>
      </dsp:txBody>
      <dsp:txXfrm rot="-5400000">
        <a:off x="2672748" y="609216"/>
        <a:ext cx="154321" cy="150035"/>
      </dsp:txXfrm>
    </dsp:sp>
    <dsp:sp modelId="{2EB22F7C-86DC-42C9-8461-C184F314C609}">
      <dsp:nvSpPr>
        <dsp:cNvPr id="0" name=""/>
        <dsp:cNvSpPr/>
      </dsp:nvSpPr>
      <dsp:spPr>
        <a:xfrm>
          <a:off x="1665722" y="859275"/>
          <a:ext cx="2168371" cy="571564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tint val="96000"/>
                <a:lumMod val="100000"/>
              </a:schemeClr>
            </a:gs>
            <a:gs pos="78000">
              <a:schemeClr val="accent1">
                <a:hueOff val="0"/>
                <a:satOff val="0"/>
                <a:lumOff val="0"/>
                <a:alphaOff val="0"/>
                <a:shade val="94000"/>
                <a:lumMod val="94000"/>
              </a:schemeClr>
            </a:gs>
          </a:gsLst>
          <a:lin ang="5400000" scaled="0"/>
        </a:gradFill>
        <a:ln>
          <a:noFill/>
        </a:ln>
        <a:effectLst>
          <a:outerShdw blurRad="38100" dist="25400" dir="5400000" rotWithShape="0">
            <a:srgbClr val="000000">
              <a:alpha val="3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57150" tIns="57150" rIns="57150" bIns="5715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500" kern="1200" dirty="0"/>
            <a:t>Daily Aggregation</a:t>
          </a:r>
        </a:p>
      </dsp:txBody>
      <dsp:txXfrm>
        <a:off x="1682463" y="876016"/>
        <a:ext cx="2134889" cy="538082"/>
      </dsp:txXfrm>
    </dsp:sp>
    <dsp:sp modelId="{0505EA93-DBB1-4684-BA12-1185910AAADD}">
      <dsp:nvSpPr>
        <dsp:cNvPr id="0" name=""/>
        <dsp:cNvSpPr/>
      </dsp:nvSpPr>
      <dsp:spPr>
        <a:xfrm rot="5400000">
          <a:off x="2642740" y="1445128"/>
          <a:ext cx="214336" cy="257203"/>
        </a:xfrm>
        <a:prstGeom prst="rightArrow">
          <a:avLst>
            <a:gd name="adj1" fmla="val 60000"/>
            <a:gd name="adj2" fmla="val 50000"/>
          </a:avLst>
        </a:prstGeom>
        <a:gradFill rotWithShape="0">
          <a:gsLst>
            <a:gs pos="0">
              <a:schemeClr val="accent1">
                <a:tint val="60000"/>
                <a:hueOff val="0"/>
                <a:satOff val="0"/>
                <a:lumOff val="0"/>
                <a:alphaOff val="0"/>
                <a:tint val="96000"/>
                <a:lumMod val="100000"/>
              </a:schemeClr>
            </a:gs>
            <a:gs pos="78000">
              <a:schemeClr val="accent1">
                <a:tint val="60000"/>
                <a:hueOff val="0"/>
                <a:satOff val="0"/>
                <a:lumOff val="0"/>
                <a:alphaOff val="0"/>
                <a:shade val="94000"/>
                <a:lumMod val="94000"/>
              </a:schemeClr>
            </a:gs>
          </a:gsLst>
          <a:lin ang="5400000" scaled="0"/>
        </a:gradFill>
        <a:ln>
          <a:noFill/>
        </a:ln>
        <a:effectLst>
          <a:outerShdw blurRad="38100" dist="25400" dir="5400000" rotWithShape="0">
            <a:srgbClr val="000000">
              <a:alpha val="3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IN" sz="1100" kern="1200"/>
        </a:p>
      </dsp:txBody>
      <dsp:txXfrm rot="-5400000">
        <a:off x="2672748" y="1466562"/>
        <a:ext cx="154321" cy="150035"/>
      </dsp:txXfrm>
    </dsp:sp>
    <dsp:sp modelId="{00383424-8E2F-40C4-BF94-2F05BFF8E33F}">
      <dsp:nvSpPr>
        <dsp:cNvPr id="0" name=""/>
        <dsp:cNvSpPr/>
      </dsp:nvSpPr>
      <dsp:spPr>
        <a:xfrm>
          <a:off x="1665722" y="1716621"/>
          <a:ext cx="2168371" cy="571564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tint val="96000"/>
                <a:lumMod val="100000"/>
              </a:schemeClr>
            </a:gs>
            <a:gs pos="78000">
              <a:schemeClr val="accent1">
                <a:hueOff val="0"/>
                <a:satOff val="0"/>
                <a:lumOff val="0"/>
                <a:alphaOff val="0"/>
                <a:shade val="94000"/>
                <a:lumMod val="94000"/>
              </a:schemeClr>
            </a:gs>
          </a:gsLst>
          <a:lin ang="5400000" scaled="0"/>
        </a:gradFill>
        <a:ln>
          <a:noFill/>
        </a:ln>
        <a:effectLst>
          <a:outerShdw blurRad="38100" dist="25400" dir="5400000" rotWithShape="0">
            <a:srgbClr val="000000">
              <a:alpha val="3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57150" tIns="57150" rIns="57150" bIns="5715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 dirty="0"/>
            <a:t>Feature Engineering</a:t>
          </a:r>
          <a:br>
            <a:rPr lang="en-US" sz="1500" kern="1200" dirty="0"/>
          </a:br>
          <a:r>
            <a:rPr lang="en-US" sz="1500" kern="1200" dirty="0"/>
            <a:t>(Lag + Rolling Features)</a:t>
          </a:r>
          <a:endParaRPr lang="en-IN" sz="1500" kern="1200" dirty="0"/>
        </a:p>
      </dsp:txBody>
      <dsp:txXfrm>
        <a:off x="1682463" y="1733362"/>
        <a:ext cx="2134889" cy="538082"/>
      </dsp:txXfrm>
    </dsp:sp>
    <dsp:sp modelId="{694B0DFD-4976-4068-A9ED-97C26A5FB655}">
      <dsp:nvSpPr>
        <dsp:cNvPr id="0" name=""/>
        <dsp:cNvSpPr/>
      </dsp:nvSpPr>
      <dsp:spPr>
        <a:xfrm rot="5400000">
          <a:off x="2642740" y="2302475"/>
          <a:ext cx="214336" cy="257203"/>
        </a:xfrm>
        <a:prstGeom prst="rightArrow">
          <a:avLst>
            <a:gd name="adj1" fmla="val 60000"/>
            <a:gd name="adj2" fmla="val 50000"/>
          </a:avLst>
        </a:prstGeom>
        <a:gradFill rotWithShape="0">
          <a:gsLst>
            <a:gs pos="0">
              <a:schemeClr val="accent1">
                <a:tint val="60000"/>
                <a:hueOff val="0"/>
                <a:satOff val="0"/>
                <a:lumOff val="0"/>
                <a:alphaOff val="0"/>
                <a:tint val="96000"/>
                <a:lumMod val="100000"/>
              </a:schemeClr>
            </a:gs>
            <a:gs pos="78000">
              <a:schemeClr val="accent1">
                <a:tint val="60000"/>
                <a:hueOff val="0"/>
                <a:satOff val="0"/>
                <a:lumOff val="0"/>
                <a:alphaOff val="0"/>
                <a:shade val="94000"/>
                <a:lumMod val="94000"/>
              </a:schemeClr>
            </a:gs>
          </a:gsLst>
          <a:lin ang="5400000" scaled="0"/>
        </a:gradFill>
        <a:ln>
          <a:noFill/>
        </a:ln>
        <a:effectLst>
          <a:outerShdw blurRad="38100" dist="25400" dir="5400000" rotWithShape="0">
            <a:srgbClr val="000000">
              <a:alpha val="3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IN" sz="1100" kern="1200"/>
        </a:p>
      </dsp:txBody>
      <dsp:txXfrm rot="-5400000">
        <a:off x="2672748" y="2323909"/>
        <a:ext cx="154321" cy="150035"/>
      </dsp:txXfrm>
    </dsp:sp>
    <dsp:sp modelId="{F9D7AC19-DF40-490F-8CCB-78A2EA4180A7}">
      <dsp:nvSpPr>
        <dsp:cNvPr id="0" name=""/>
        <dsp:cNvSpPr/>
      </dsp:nvSpPr>
      <dsp:spPr>
        <a:xfrm>
          <a:off x="1665722" y="2573968"/>
          <a:ext cx="2168371" cy="571564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tint val="96000"/>
                <a:lumMod val="100000"/>
              </a:schemeClr>
            </a:gs>
            <a:gs pos="78000">
              <a:schemeClr val="accent1">
                <a:hueOff val="0"/>
                <a:satOff val="0"/>
                <a:lumOff val="0"/>
                <a:alphaOff val="0"/>
                <a:shade val="94000"/>
                <a:lumMod val="94000"/>
              </a:schemeClr>
            </a:gs>
          </a:gsLst>
          <a:lin ang="5400000" scaled="0"/>
        </a:gradFill>
        <a:ln>
          <a:noFill/>
        </a:ln>
        <a:effectLst>
          <a:outerShdw blurRad="38100" dist="25400" dir="5400000" rotWithShape="0">
            <a:srgbClr val="000000">
              <a:alpha val="3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57150" tIns="57150" rIns="57150" bIns="5715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500" kern="1200" dirty="0"/>
            <a:t>Train/Test Split</a:t>
          </a:r>
        </a:p>
      </dsp:txBody>
      <dsp:txXfrm>
        <a:off x="1682463" y="2590709"/>
        <a:ext cx="2134889" cy="538082"/>
      </dsp:txXfrm>
    </dsp:sp>
    <dsp:sp modelId="{223106DB-032A-4AA0-9FBC-8A7A79A2E659}">
      <dsp:nvSpPr>
        <dsp:cNvPr id="0" name=""/>
        <dsp:cNvSpPr/>
      </dsp:nvSpPr>
      <dsp:spPr>
        <a:xfrm rot="5400000">
          <a:off x="2642740" y="3159821"/>
          <a:ext cx="214336" cy="257203"/>
        </a:xfrm>
        <a:prstGeom prst="rightArrow">
          <a:avLst>
            <a:gd name="adj1" fmla="val 60000"/>
            <a:gd name="adj2" fmla="val 50000"/>
          </a:avLst>
        </a:prstGeom>
        <a:gradFill rotWithShape="0">
          <a:gsLst>
            <a:gs pos="0">
              <a:schemeClr val="accent1">
                <a:tint val="60000"/>
                <a:hueOff val="0"/>
                <a:satOff val="0"/>
                <a:lumOff val="0"/>
                <a:alphaOff val="0"/>
                <a:tint val="96000"/>
                <a:lumMod val="100000"/>
              </a:schemeClr>
            </a:gs>
            <a:gs pos="78000">
              <a:schemeClr val="accent1">
                <a:tint val="60000"/>
                <a:hueOff val="0"/>
                <a:satOff val="0"/>
                <a:lumOff val="0"/>
                <a:alphaOff val="0"/>
                <a:shade val="94000"/>
                <a:lumMod val="94000"/>
              </a:schemeClr>
            </a:gs>
          </a:gsLst>
          <a:lin ang="5400000" scaled="0"/>
        </a:gradFill>
        <a:ln>
          <a:noFill/>
        </a:ln>
        <a:effectLst>
          <a:outerShdw blurRad="38100" dist="25400" dir="5400000" rotWithShape="0">
            <a:srgbClr val="000000">
              <a:alpha val="3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IN" sz="1100" kern="1200"/>
        </a:p>
      </dsp:txBody>
      <dsp:txXfrm rot="-5400000">
        <a:off x="2672748" y="3181255"/>
        <a:ext cx="154321" cy="150035"/>
      </dsp:txXfrm>
    </dsp:sp>
    <dsp:sp modelId="{42A23F79-10F6-4500-82C9-D9097FE59142}">
      <dsp:nvSpPr>
        <dsp:cNvPr id="0" name=""/>
        <dsp:cNvSpPr/>
      </dsp:nvSpPr>
      <dsp:spPr>
        <a:xfrm>
          <a:off x="1665722" y="3431314"/>
          <a:ext cx="2168371" cy="571564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tint val="96000"/>
                <a:lumMod val="100000"/>
              </a:schemeClr>
            </a:gs>
            <a:gs pos="78000">
              <a:schemeClr val="accent1">
                <a:hueOff val="0"/>
                <a:satOff val="0"/>
                <a:lumOff val="0"/>
                <a:alphaOff val="0"/>
                <a:shade val="94000"/>
                <a:lumMod val="94000"/>
              </a:schemeClr>
            </a:gs>
          </a:gsLst>
          <a:lin ang="5400000" scaled="0"/>
        </a:gradFill>
        <a:ln>
          <a:noFill/>
        </a:ln>
        <a:effectLst>
          <a:outerShdw blurRad="38100" dist="25400" dir="5400000" rotWithShape="0">
            <a:srgbClr val="000000">
              <a:alpha val="3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57150" tIns="57150" rIns="57150" bIns="5715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500" kern="1200" dirty="0"/>
            <a:t>Forecasting Models</a:t>
          </a:r>
        </a:p>
      </dsp:txBody>
      <dsp:txXfrm>
        <a:off x="1682463" y="3448055"/>
        <a:ext cx="2134889" cy="538082"/>
      </dsp:txXfrm>
    </dsp:sp>
    <dsp:sp modelId="{64FB77BA-5623-4051-93D0-086AC9858C9F}">
      <dsp:nvSpPr>
        <dsp:cNvPr id="0" name=""/>
        <dsp:cNvSpPr/>
      </dsp:nvSpPr>
      <dsp:spPr>
        <a:xfrm rot="5400000">
          <a:off x="2642740" y="4017167"/>
          <a:ext cx="214336" cy="257203"/>
        </a:xfrm>
        <a:prstGeom prst="rightArrow">
          <a:avLst>
            <a:gd name="adj1" fmla="val 60000"/>
            <a:gd name="adj2" fmla="val 50000"/>
          </a:avLst>
        </a:prstGeom>
        <a:gradFill rotWithShape="0">
          <a:gsLst>
            <a:gs pos="0">
              <a:schemeClr val="accent1">
                <a:tint val="60000"/>
                <a:hueOff val="0"/>
                <a:satOff val="0"/>
                <a:lumOff val="0"/>
                <a:alphaOff val="0"/>
                <a:tint val="96000"/>
                <a:lumMod val="100000"/>
              </a:schemeClr>
            </a:gs>
            <a:gs pos="78000">
              <a:schemeClr val="accent1">
                <a:tint val="60000"/>
                <a:hueOff val="0"/>
                <a:satOff val="0"/>
                <a:lumOff val="0"/>
                <a:alphaOff val="0"/>
                <a:shade val="94000"/>
                <a:lumMod val="94000"/>
              </a:schemeClr>
            </a:gs>
          </a:gsLst>
          <a:lin ang="5400000" scaled="0"/>
        </a:gradFill>
        <a:ln>
          <a:noFill/>
        </a:ln>
        <a:effectLst>
          <a:outerShdw blurRad="38100" dist="25400" dir="5400000" rotWithShape="0">
            <a:srgbClr val="000000">
              <a:alpha val="3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IN" sz="1100" kern="1200"/>
        </a:p>
      </dsp:txBody>
      <dsp:txXfrm rot="-5400000">
        <a:off x="2672748" y="4038601"/>
        <a:ext cx="154321" cy="150035"/>
      </dsp:txXfrm>
    </dsp:sp>
    <dsp:sp modelId="{E3FDC0A9-7986-4149-82D5-A207E61A8DE7}">
      <dsp:nvSpPr>
        <dsp:cNvPr id="0" name=""/>
        <dsp:cNvSpPr/>
      </dsp:nvSpPr>
      <dsp:spPr>
        <a:xfrm>
          <a:off x="1665722" y="4288660"/>
          <a:ext cx="2168371" cy="571564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tint val="96000"/>
                <a:lumMod val="100000"/>
              </a:schemeClr>
            </a:gs>
            <a:gs pos="78000">
              <a:schemeClr val="accent1">
                <a:hueOff val="0"/>
                <a:satOff val="0"/>
                <a:lumOff val="0"/>
                <a:alphaOff val="0"/>
                <a:shade val="94000"/>
                <a:lumMod val="94000"/>
              </a:schemeClr>
            </a:gs>
          </a:gsLst>
          <a:lin ang="5400000" scaled="0"/>
        </a:gradFill>
        <a:ln>
          <a:noFill/>
        </a:ln>
        <a:effectLst>
          <a:outerShdw blurRad="38100" dist="25400" dir="5400000" rotWithShape="0">
            <a:srgbClr val="000000">
              <a:alpha val="3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57150" tIns="57150" rIns="57150" bIns="5715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500" kern="1200" dirty="0"/>
            <a:t>Evaluation &amp; Comparison</a:t>
          </a:r>
        </a:p>
      </dsp:txBody>
      <dsp:txXfrm>
        <a:off x="1682463" y="4305401"/>
        <a:ext cx="2134889" cy="538082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process2">
  <dgm:title val=""/>
  <dgm:desc val=""/>
  <dgm:catLst>
    <dgm:cat type="process" pri="13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Flow">
    <dgm:varLst>
      <dgm:resizeHandles val="exact"/>
    </dgm:varLst>
    <dgm:alg type="lin">
      <dgm:param type="linDir" val="fromT"/>
    </dgm:alg>
    <dgm:shape xmlns:r="http://schemas.openxmlformats.org/officeDocument/2006/relationships" r:blip="">
      <dgm:adjLst/>
    </dgm:shape>
    <dgm:presOf/>
    <dgm:constrLst>
      <dgm:constr type="h" for="ch" ptType="node" refType="h"/>
      <dgm:constr type="h" for="ch" ptType="sibTrans" refType="h" refFor="ch" refPtType="node" fact="0.5"/>
      <dgm:constr type="w" for="ch" ptType="node" op="equ"/>
      <dgm:constr type="primFontSz" for="ch" ptType="node" op="equ" val="65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choose name="Name0">
          <dgm:if name="Name1" axis="root des" ptType="all node" func="maxDepth" op="gt" val="1">
            <dgm:alg type="tx">
              <dgm:param type="parTxLTRAlign" val="l"/>
              <dgm:param type="parTxRTLAlign" val="r"/>
              <dgm:param type="txAnchorVertCh" val="mid"/>
            </dgm:alg>
          </dgm:if>
          <dgm:else name="Name2">
            <dgm:alg type="tx"/>
          </dgm:else>
        </dgm:choose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w" refType="h" fact="1.8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18" fact="NaN" max="NaN"/>
          <dgm:rule type="w" val="NaN" fact="4" max="NaN"/>
          <dgm:rule type="primFontSz" val="5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w" refType="h" fact="0.9"/>
            <dgm:constr type="connDist"/>
            <dgm:constr type="wArH" refType="w" fact="0.5"/>
            <dgm:constr type="hArH" refType="w"/>
            <dgm:constr type="stemThick" refType="w" fact="0.6"/>
            <dgm:constr type="begPad" refType="connDist" fact="0.125"/>
            <dgm:constr type="endPad" refType="connDist" fact="0.125"/>
          </dgm:constrLst>
          <dgm:ruleLst/>
          <dgm:layoutNode name="connectorText">
            <dgm:alg type="tx">
              <dgm:param type="autoTxRot" val="upr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process2">
  <dgm:title val=""/>
  <dgm:desc val=""/>
  <dgm:catLst>
    <dgm:cat type="process" pri="13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Flow">
    <dgm:varLst>
      <dgm:resizeHandles val="exact"/>
    </dgm:varLst>
    <dgm:alg type="lin">
      <dgm:param type="linDir" val="fromT"/>
    </dgm:alg>
    <dgm:shape xmlns:r="http://schemas.openxmlformats.org/officeDocument/2006/relationships" r:blip="">
      <dgm:adjLst/>
    </dgm:shape>
    <dgm:presOf/>
    <dgm:constrLst>
      <dgm:constr type="h" for="ch" ptType="node" refType="h"/>
      <dgm:constr type="h" for="ch" ptType="sibTrans" refType="h" refFor="ch" refPtType="node" fact="0.5"/>
      <dgm:constr type="w" for="ch" ptType="node" op="equ"/>
      <dgm:constr type="primFontSz" for="ch" ptType="node" op="equ" val="65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choose name="Name0">
          <dgm:if name="Name1" axis="root des" ptType="all node" func="maxDepth" op="gt" val="1">
            <dgm:alg type="tx">
              <dgm:param type="parTxLTRAlign" val="l"/>
              <dgm:param type="parTxRTLAlign" val="r"/>
              <dgm:param type="txAnchorVertCh" val="mid"/>
            </dgm:alg>
          </dgm:if>
          <dgm:else name="Name2">
            <dgm:alg type="tx"/>
          </dgm:else>
        </dgm:choose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w" refType="h" fact="1.8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18" fact="NaN" max="NaN"/>
          <dgm:rule type="w" val="NaN" fact="4" max="NaN"/>
          <dgm:rule type="primFontSz" val="5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w" refType="h" fact="0.9"/>
            <dgm:constr type="connDist"/>
            <dgm:constr type="wArH" refType="w" fact="0.5"/>
            <dgm:constr type="hArH" refType="w"/>
            <dgm:constr type="stemThick" refType="w" fact="0.6"/>
            <dgm:constr type="begPad" refType="connDist" fact="0.125"/>
            <dgm:constr type="endPad" refType="connDist" fact="0.125"/>
          </dgm:constrLst>
          <dgm:ruleLst/>
          <dgm:layoutNode name="connectorText">
            <dgm:alg type="tx">
              <dgm:param type="autoTxRot" val="upr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9B18641-CB1A-4A9F-A7EB-AE1ED1F0B5A3}" type="datetimeFigureOut">
              <a:rPr lang="en-IN" smtClean="0"/>
              <a:t>09-05-2026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1EEBD41-7000-4D87-9966-235C411B375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10993245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1EEBD41-7000-4D87-9966-235C411B375D}" type="slidenum">
              <a:rPr lang="en-IN" smtClean="0"/>
              <a:t>3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08435372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Group 15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sp>
          <p:nvSpPr>
            <p:cNvPr id="15" name="Freeform 14"/>
            <p:cNvSpPr/>
            <p:nvPr/>
          </p:nvSpPr>
          <p:spPr>
            <a:xfrm>
              <a:off x="0" y="-7862"/>
              <a:ext cx="863600" cy="5698067"/>
            </a:xfrm>
            <a:custGeom>
              <a:avLst/>
              <a:gdLst/>
              <a:ahLst/>
              <a:cxnLst/>
              <a:rect l="l" t="t" r="r" b="b"/>
              <a:pathLst>
                <a:path w="863600" h="5698067">
                  <a:moveTo>
                    <a:pt x="0" y="8467"/>
                  </a:moveTo>
                  <a:lnTo>
                    <a:pt x="863600" y="0"/>
                  </a:lnTo>
                  <a:lnTo>
                    <a:pt x="863600" y="16934"/>
                  </a:lnTo>
                  <a:lnTo>
                    <a:pt x="0" y="5698067"/>
                  </a:lnTo>
                  <a:lnTo>
                    <a:pt x="0" y="8467"/>
                  </a:lnTo>
                  <a:close/>
                </a:path>
              </a:pathLst>
            </a:custGeom>
            <a:solidFill>
              <a:schemeClr val="accent1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cxnSp>
          <p:nvCxnSpPr>
            <p:cNvPr id="19" name="Straight Connector 18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Isosceles Triangle 22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5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2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3FDEB5-8341-45F1-A663-BB597D9D3C81}" type="datetimeFigureOut">
              <a:rPr lang="en-IN" smtClean="0"/>
              <a:t>09-05-2026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9532EE-48D9-44B4-80CC-276A6DB3873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6063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14:reveal/>
      </p:transition>
    </mc:Choice>
    <mc:Fallback xmlns="">
      <p:transition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3FDEB5-8341-45F1-A663-BB597D9D3C81}" type="datetimeFigureOut">
              <a:rPr lang="en-IN" smtClean="0"/>
              <a:t>09-05-2026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9532EE-48D9-44B4-80CC-276A6DB3873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6348002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14:reveal/>
      </p:transition>
    </mc:Choice>
    <mc:Fallback xmlns="">
      <p:transition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3FDEB5-8341-45F1-A663-BB597D9D3C81}" type="datetimeFigureOut">
              <a:rPr lang="en-IN" smtClean="0"/>
              <a:t>09-05-2026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9532EE-48D9-44B4-80CC-276A6DB3873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0469618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14:reveal/>
      </p:transition>
    </mc:Choice>
    <mc:Fallback xmlns="">
      <p:transition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3FDEB5-8341-45F1-A663-BB597D9D3C81}" type="datetimeFigureOut">
              <a:rPr lang="en-IN" smtClean="0"/>
              <a:t>09-05-2026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9532EE-48D9-44B4-80CC-276A6DB3873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3709594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14:reveal/>
      </p:transition>
    </mc:Choice>
    <mc:Fallback xmlns="">
      <p:transition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3FDEB5-8341-45F1-A663-BB597D9D3C81}" type="datetimeFigureOut">
              <a:rPr lang="en-IN" smtClean="0"/>
              <a:t>09-05-2026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9532EE-48D9-44B4-80CC-276A6DB3873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60583717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14:reveal/>
      </p:transition>
    </mc:Choice>
    <mc:Fallback xmlns="">
      <p:transition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3FDEB5-8341-45F1-A663-BB597D9D3C81}" type="datetimeFigureOut">
              <a:rPr lang="en-IN" smtClean="0"/>
              <a:t>09-05-2026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9532EE-48D9-44B4-80CC-276A6DB3873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3953233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14:reveal/>
      </p:transition>
    </mc:Choice>
    <mc:Fallback xmlns="">
      <p:transition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3FDEB5-8341-45F1-A663-BB597D9D3C81}" type="datetimeFigureOut">
              <a:rPr lang="en-IN" smtClean="0"/>
              <a:t>09-05-2026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9532EE-48D9-44B4-80CC-276A6DB3873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2749605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14:reveal/>
      </p:transition>
    </mc:Choice>
    <mc:Fallback xmlns="">
      <p:transition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3FDEB5-8341-45F1-A663-BB597D9D3C81}" type="datetimeFigureOut">
              <a:rPr lang="en-IN" smtClean="0"/>
              <a:t>09-05-2026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9532EE-48D9-44B4-80CC-276A6DB3873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2806886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14:reveal/>
      </p:transition>
    </mc:Choice>
    <mc:Fallback xmlns="">
      <p:transition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9532EE-48D9-44B4-80CC-276A6DB38739}" type="slidenum">
              <a:rPr lang="en-IN" smtClean="0"/>
              <a:t>‹#›</a:t>
            </a:fld>
            <a:endParaRPr lang="en-IN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3FDEB5-8341-45F1-A663-BB597D9D3C81}" type="datetimeFigureOut">
              <a:rPr lang="en-IN" smtClean="0"/>
              <a:t>09-05-2026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2271255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14:reveal/>
      </p:transition>
    </mc:Choice>
    <mc:Fallback xmlns="">
      <p:transition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3FDEB5-8341-45F1-A663-BB597D9D3C81}" type="datetimeFigureOut">
              <a:rPr lang="en-IN" smtClean="0"/>
              <a:t>09-05-2026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9532EE-48D9-44B4-80CC-276A6DB3873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309086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14:reveal/>
      </p:transition>
    </mc:Choice>
    <mc:Fallback xmlns="">
      <p:transition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3FDEB5-8341-45F1-A663-BB597D9D3C81}" type="datetimeFigureOut">
              <a:rPr lang="en-IN" smtClean="0"/>
              <a:t>09-05-2026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9532EE-48D9-44B4-80CC-276A6DB38739}" type="slidenum">
              <a:rPr lang="en-IN" smtClean="0"/>
              <a:t>‹#›</a:t>
            </a:fld>
            <a:endParaRPr lang="en-IN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0624187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14:reveal/>
      </p:transition>
    </mc:Choice>
    <mc:Fallback xmlns="">
      <p:transition>
        <p:fade/>
      </p:transition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3FDEB5-8341-45F1-A663-BB597D9D3C81}" type="datetimeFigureOut">
              <a:rPr lang="en-IN" smtClean="0"/>
              <a:t>09-05-2026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9532EE-48D9-44B4-80CC-276A6DB3873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606826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14:reveal/>
      </p:transition>
    </mc:Choice>
    <mc:Fallback xmlns="">
      <p:transition>
        <p:fade/>
      </p:transition>
    </mc:Fallback>
  </mc:AlternateConten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3FDEB5-8341-45F1-A663-BB597D9D3C81}" type="datetimeFigureOut">
              <a:rPr lang="en-IN" smtClean="0"/>
              <a:t>09-05-2026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9532EE-48D9-44B4-80CC-276A6DB38739}" type="slidenum">
              <a:rPr lang="en-IN" smtClean="0"/>
              <a:t>‹#›</a:t>
            </a:fld>
            <a:endParaRPr lang="en-IN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2087676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14:reveal/>
      </p:transition>
    </mc:Choice>
    <mc:Fallback xmlns="">
      <p:transition>
        <p:fade/>
      </p:transition>
    </mc:Fallback>
  </mc:AlternateConten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3FDEB5-8341-45F1-A663-BB597D9D3C81}" type="datetimeFigureOut">
              <a:rPr lang="en-IN" smtClean="0"/>
              <a:t>09-05-2026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9532EE-48D9-44B4-80CC-276A6DB3873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83724115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14:reveal/>
      </p:transition>
    </mc:Choice>
    <mc:Fallback xmlns="">
      <p:transition>
        <p:fade/>
      </p:transition>
    </mc:Fallback>
  </mc:AlternateConten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3FDEB5-8341-45F1-A663-BB597D9D3C81}" type="datetimeFigureOut">
              <a:rPr lang="en-IN" smtClean="0"/>
              <a:t>09-05-2026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9532EE-48D9-44B4-80CC-276A6DB3873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668966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14:reveal/>
      </p:transition>
    </mc:Choice>
    <mc:Fallback xmlns="">
      <p:transition>
        <p:fade/>
      </p:transition>
    </mc:Fallback>
  </mc:AlternateConten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3FDEB5-8341-45F1-A663-BB597D9D3C81}" type="datetimeFigureOut">
              <a:rPr lang="en-IN" smtClean="0"/>
              <a:t>09-05-2026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9532EE-48D9-44B4-80CC-276A6DB3873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78258537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14:reveal/>
      </p:transition>
    </mc:Choice>
    <mc:Fallback xmlns="">
      <p:transition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" name="Group 43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5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2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93FDEB5-8341-45F1-A663-BB597D9D3C81}" type="datetimeFigureOut">
              <a:rPr lang="en-IN" smtClean="0"/>
              <a:t>09-05-2026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6C9532EE-48D9-44B4-80CC-276A6DB3873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2160311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8" r:id="rId1"/>
    <p:sldLayoutId id="2147483679" r:id="rId2"/>
    <p:sldLayoutId id="2147483680" r:id="rId3"/>
    <p:sldLayoutId id="2147483681" r:id="rId4"/>
    <p:sldLayoutId id="2147483682" r:id="rId5"/>
    <p:sldLayoutId id="2147483683" r:id="rId6"/>
    <p:sldLayoutId id="2147483684" r:id="rId7"/>
    <p:sldLayoutId id="2147483685" r:id="rId8"/>
    <p:sldLayoutId id="2147483686" r:id="rId9"/>
    <p:sldLayoutId id="2147483687" r:id="rId10"/>
    <p:sldLayoutId id="2147483688" r:id="rId11"/>
    <p:sldLayoutId id="2147483689" r:id="rId12"/>
    <p:sldLayoutId id="2147483690" r:id="rId13"/>
    <p:sldLayoutId id="2147483691" r:id="rId14"/>
    <p:sldLayoutId id="2147483692" r:id="rId15"/>
    <p:sldLayoutId id="2147483693" r:id="rId16"/>
  </p:sldLayoutIdLst>
  <mc:AlternateContent xmlns:mc="http://schemas.openxmlformats.org/markup-compatibility/2006" xmlns:p14="http://schemas.microsoft.com/office/powerpoint/2010/main">
    <mc:Choice Requires="p14">
      <p:transition p14:dur="250">
        <p14:reveal/>
      </p:transition>
    </mc:Choice>
    <mc:Fallback xmlns="">
      <p:transition>
        <p:fade/>
      </p:transition>
    </mc:Fallback>
  </mc:AlternateConten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4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80FFD6-768B-7734-BB82-5FE892DD846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56852" y="365280"/>
            <a:ext cx="9311148" cy="2387600"/>
          </a:xfrm>
        </p:spPr>
        <p:txBody>
          <a:bodyPr>
            <a:normAutofit fontScale="90000"/>
          </a:bodyPr>
          <a:lstStyle/>
          <a:p>
            <a:r>
              <a:rPr lang="en-US" sz="5200" b="1" dirty="0">
                <a:solidFill>
                  <a:schemeClr val="accent2">
                    <a:lumMod val="75000"/>
                  </a:schemeClr>
                </a:solidFill>
                <a:cs typeface="Times New Roman" panose="02020603050405020304" pitchFamily="18" charset="0"/>
              </a:rPr>
              <a:t>Global Weather Trend Forecasting and Climate Analysis</a:t>
            </a:r>
            <a:endParaRPr lang="en-IN" sz="5200" b="1" dirty="0">
              <a:solidFill>
                <a:schemeClr val="accent2">
                  <a:lumMod val="75000"/>
                </a:schemeClr>
              </a:solidFill>
              <a:cs typeface="Times New Roman" panose="02020603050405020304" pitchFamily="18" charset="0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322F10C-FF32-BE93-8B12-E3EB2367FCC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301180"/>
            <a:ext cx="9144000" cy="2784987"/>
          </a:xfrm>
        </p:spPr>
        <p:txBody>
          <a:bodyPr>
            <a:noAutofit/>
          </a:bodyPr>
          <a:lstStyle/>
          <a:p>
            <a:r>
              <a:rPr lang="en-US" sz="2000" b="1" dirty="0">
                <a:solidFill>
                  <a:schemeClr val="tx1">
                    <a:lumMod val="65000"/>
                    <a:lumOff val="35000"/>
                  </a:schemeClr>
                </a:solidFill>
                <a:cs typeface="Times New Roman" panose="02020603050405020304" pitchFamily="18" charset="0"/>
              </a:rPr>
              <a:t>Data Science - Technical Assessment</a:t>
            </a:r>
          </a:p>
          <a:p>
            <a:endParaRPr lang="en-US" sz="2000" dirty="0">
              <a:solidFill>
                <a:schemeClr val="tx1">
                  <a:lumMod val="65000"/>
                  <a:lumOff val="35000"/>
                </a:schemeClr>
              </a:solidFill>
              <a:cs typeface="Times New Roman" panose="02020603050405020304" pitchFamily="18" charset="0"/>
            </a:endParaRPr>
          </a:p>
          <a:p>
            <a:r>
              <a:rPr lang="en-US" sz="2000" b="1" dirty="0">
                <a:solidFill>
                  <a:schemeClr val="tx1">
                    <a:lumMod val="65000"/>
                    <a:lumOff val="35000"/>
                  </a:schemeClr>
                </a:solidFill>
                <a:cs typeface="Times New Roman" panose="02020603050405020304" pitchFamily="18" charset="0"/>
              </a:rPr>
              <a:t>Rahul Pandey</a:t>
            </a:r>
          </a:p>
          <a:p>
            <a:r>
              <a:rPr lang="en-IN" sz="2000" dirty="0">
                <a:solidFill>
                  <a:schemeClr val="tx1">
                    <a:lumMod val="65000"/>
                    <a:lumOff val="35000"/>
                  </a:schemeClr>
                </a:solidFill>
                <a:cs typeface="Times New Roman" panose="02020603050405020304" pitchFamily="18" charset="0"/>
              </a:rPr>
              <a:t>Role Applied: </a:t>
            </a:r>
            <a:r>
              <a:rPr lang="en-IN" sz="2000" b="1" dirty="0">
                <a:solidFill>
                  <a:schemeClr val="tx1">
                    <a:lumMod val="65000"/>
                    <a:lumOff val="35000"/>
                  </a:schemeClr>
                </a:solidFill>
                <a:cs typeface="Times New Roman" panose="02020603050405020304" pitchFamily="18" charset="0"/>
              </a:rPr>
              <a:t>Data Scientist</a:t>
            </a:r>
          </a:p>
          <a:p>
            <a:r>
              <a:rPr lang="en-IN" sz="2000" b="1" dirty="0">
                <a:solidFill>
                  <a:schemeClr val="tx1">
                    <a:lumMod val="65000"/>
                    <a:lumOff val="35000"/>
                  </a:schemeClr>
                </a:solidFill>
                <a:cs typeface="Times New Roman" panose="02020603050405020304" pitchFamily="18" charset="0"/>
              </a:rPr>
              <a:t>GitHub</a:t>
            </a:r>
            <a:r>
              <a:rPr lang="en-IN" sz="2000" dirty="0">
                <a:solidFill>
                  <a:schemeClr val="tx1">
                    <a:lumMod val="65000"/>
                    <a:lumOff val="35000"/>
                  </a:schemeClr>
                </a:solidFill>
                <a:cs typeface="Times New Roman" panose="02020603050405020304" pitchFamily="18" charset="0"/>
              </a:rPr>
              <a:t>: github.com/rahul-9k</a:t>
            </a:r>
          </a:p>
          <a:p>
            <a:r>
              <a:rPr lang="en-IN" sz="2000" b="1" dirty="0">
                <a:solidFill>
                  <a:schemeClr val="tx1">
                    <a:lumMod val="65000"/>
                    <a:lumOff val="35000"/>
                  </a:schemeClr>
                </a:solidFill>
                <a:cs typeface="Times New Roman" panose="02020603050405020304" pitchFamily="18" charset="0"/>
              </a:rPr>
              <a:t>LinkedIn</a:t>
            </a:r>
            <a:r>
              <a:rPr lang="en-IN" sz="2000" dirty="0">
                <a:solidFill>
                  <a:schemeClr val="tx1">
                    <a:lumMod val="65000"/>
                    <a:lumOff val="35000"/>
                  </a:schemeClr>
                </a:solidFill>
                <a:cs typeface="Times New Roman" panose="02020603050405020304" pitchFamily="18" charset="0"/>
              </a:rPr>
              <a:t>: linkedin.com/in/rahulpandey9k</a:t>
            </a:r>
          </a:p>
        </p:txBody>
      </p:sp>
    </p:spTree>
    <p:extLst>
      <p:ext uri="{BB962C8B-B14F-4D97-AF65-F5344CB8AC3E}">
        <p14:creationId xmlns:p14="http://schemas.microsoft.com/office/powerpoint/2010/main" val="371218206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14:reveal/>
      </p:transition>
    </mc:Choice>
    <mc:Fallback xmlns="">
      <p:transition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8AF2BB-F9D6-8797-60FF-5014D0C742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4" y="501446"/>
            <a:ext cx="10757582" cy="835742"/>
          </a:xfrm>
        </p:spPr>
        <p:txBody>
          <a:bodyPr>
            <a:normAutofit/>
          </a:bodyPr>
          <a:lstStyle/>
          <a:p>
            <a:pPr algn="ctr"/>
            <a:r>
              <a:rPr lang="en-IN" sz="4000" b="1" dirty="0">
                <a:solidFill>
                  <a:schemeClr val="accent2">
                    <a:lumMod val="75000"/>
                  </a:schemeClr>
                </a:solidFill>
              </a:rPr>
              <a:t>PM Accelerator Mission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7770EF5-9392-FAED-0D3A-F4B59846BF4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40545" y="1779638"/>
            <a:ext cx="6386165" cy="4237703"/>
          </a:xfrm>
        </p:spPr>
        <p:txBody>
          <a:bodyPr>
            <a:normAutofit/>
          </a:bodyPr>
          <a:lstStyle/>
          <a:p>
            <a:r>
              <a:rPr lang="en-US" dirty="0"/>
              <a:t>PM Accelerator focuses on providing training, education, and career opportunities for aspiring and experienced Product Managers.</a:t>
            </a:r>
          </a:p>
          <a:p>
            <a:endParaRPr lang="en-US" dirty="0"/>
          </a:p>
          <a:p>
            <a:r>
              <a:rPr lang="en-US" dirty="0"/>
              <a:t>Their mission is to make industry-leading tools, education, and AI-focused learning accessible to individuals from all backgrounds.</a:t>
            </a:r>
          </a:p>
          <a:p>
            <a:endParaRPr lang="en-US" dirty="0"/>
          </a:p>
          <a:p>
            <a:r>
              <a:rPr lang="en-US" dirty="0"/>
              <a:t>By creating access to industry leaders, practical experience, and the right professional ecosystem, PM Accelerator helps prepare future technology and product leaders.</a:t>
            </a:r>
            <a:endParaRPr lang="en-IN" dirty="0"/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C843AE10-7C86-F40F-603A-9594AAE7EC93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7562537" y="2313930"/>
            <a:ext cx="4290363" cy="2230139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13898438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14:reveal/>
      </p:transition>
    </mc:Choice>
    <mc:Fallback xmlns="">
      <p:transition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0198C7-8640-A3AC-1395-B039F18039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834410"/>
          </a:xfrm>
        </p:spPr>
        <p:txBody>
          <a:bodyPr>
            <a:normAutofit/>
          </a:bodyPr>
          <a:lstStyle/>
          <a:p>
            <a:r>
              <a:rPr lang="en-IN" sz="4000" dirty="0">
                <a:solidFill>
                  <a:schemeClr val="accent2">
                    <a:lumMod val="75000"/>
                  </a:schemeClr>
                </a:solidFill>
                <a:cs typeface="Times New Roman" panose="02020603050405020304" pitchFamily="18" charset="0"/>
              </a:rPr>
              <a:t>Project Overview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28223DA2-3C15-9F4E-152F-A5577C24C74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9" y="1533831"/>
            <a:ext cx="6408175" cy="4643131"/>
          </a:xfrm>
        </p:spPr>
        <p:txBody>
          <a:bodyPr>
            <a:normAutofit/>
          </a:bodyPr>
          <a:lstStyle/>
          <a:p>
            <a:r>
              <a:rPr lang="en-US" sz="2400" dirty="0"/>
              <a:t>Analyzed global weather and environmental data</a:t>
            </a:r>
          </a:p>
          <a:p>
            <a:r>
              <a:rPr lang="en-US" sz="2400" dirty="0"/>
              <a:t>Performed exploratory and advanced climate analysis</a:t>
            </a:r>
          </a:p>
          <a:p>
            <a:r>
              <a:rPr lang="en-US" sz="2400" dirty="0"/>
              <a:t>Built multiple forecasting models for temperature prediction</a:t>
            </a:r>
          </a:p>
          <a:p>
            <a:r>
              <a:rPr lang="en-US" sz="2400" dirty="0"/>
              <a:t>Conducted anomaly detection and spatial analysis</a:t>
            </a:r>
          </a:p>
          <a:p>
            <a:r>
              <a:rPr lang="en-US" sz="2400" dirty="0"/>
              <a:t>Compared forecasting performance using multiple metrics</a:t>
            </a:r>
            <a:endParaRPr lang="en-IN" sz="2400" dirty="0"/>
          </a:p>
        </p:txBody>
      </p:sp>
      <p:pic>
        <p:nvPicPr>
          <p:cNvPr id="1026" name="Picture 2" descr="melting earth. global warming globe water concept sphere environment - global climate change stock pictures, royalty-free photos &amp; images">
            <a:extLst>
              <a:ext uri="{FF2B5EF4-FFF2-40B4-BE49-F238E27FC236}">
                <a16:creationId xmlns:a16="http://schemas.microsoft.com/office/drawing/2014/main" id="{8D2F350E-C674-9387-EF7E-63411C8183A0}"/>
              </a:ext>
            </a:extLst>
          </p:cNvPr>
          <p:cNvPicPr>
            <a:picLocks noGrp="1" noChangeAspect="1" noChangeArrowheads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03434" y="1685197"/>
            <a:ext cx="4410967" cy="3848785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</p:spTree>
    <p:extLst>
      <p:ext uri="{BB962C8B-B14F-4D97-AF65-F5344CB8AC3E}">
        <p14:creationId xmlns:p14="http://schemas.microsoft.com/office/powerpoint/2010/main" val="204631974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14:reveal/>
      </p:transition>
    </mc:Choice>
    <mc:Fallback xmlns="">
      <p:transition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1F9A4D-6DA5-77FB-13A4-03139551B7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4" y="412955"/>
            <a:ext cx="8596668" cy="904567"/>
          </a:xfrm>
        </p:spPr>
        <p:txBody>
          <a:bodyPr>
            <a:normAutofit/>
          </a:bodyPr>
          <a:lstStyle/>
          <a:p>
            <a:r>
              <a:rPr lang="en-IN" sz="4000" dirty="0">
                <a:solidFill>
                  <a:schemeClr val="accent2">
                    <a:lumMod val="75000"/>
                  </a:schemeClr>
                </a:solidFill>
                <a:cs typeface="Times New Roman" panose="02020603050405020304" pitchFamily="18" charset="0"/>
              </a:rPr>
              <a:t>Dataset Overview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D75496B-8DB3-E0D8-337F-8DEAEC0DAAA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1420762"/>
            <a:ext cx="8596668" cy="5024283"/>
          </a:xfrm>
        </p:spPr>
        <p:txBody>
          <a:bodyPr>
            <a:normAutofit/>
          </a:bodyPr>
          <a:lstStyle/>
          <a:p>
            <a:r>
              <a:rPr lang="en-US" dirty="0"/>
              <a:t>Dataset: Global Weather Repository (Kaggle)</a:t>
            </a:r>
          </a:p>
          <a:p>
            <a:r>
              <a:rPr lang="en-US" dirty="0"/>
              <a:t>Total Records: ~140,000</a:t>
            </a:r>
          </a:p>
          <a:p>
            <a:r>
              <a:rPr lang="en-US" dirty="0"/>
              <a:t>Features: 50+ weather and environmental variables</a:t>
            </a:r>
          </a:p>
          <a:p>
            <a:r>
              <a:rPr lang="en-US" dirty="0"/>
              <a:t>Time Range: May 2024 – May 2026</a:t>
            </a:r>
          </a:p>
          <a:p>
            <a:r>
              <a:rPr lang="en-US" dirty="0"/>
              <a:t>Global coverage across multiple countries and cities</a:t>
            </a:r>
          </a:p>
          <a:p>
            <a:pPr marL="0" indent="0">
              <a:buNone/>
            </a:pPr>
            <a:endParaRPr lang="en-US" sz="2000" b="1" dirty="0"/>
          </a:p>
          <a:p>
            <a:pPr marL="0" indent="0">
              <a:buNone/>
            </a:pPr>
            <a:r>
              <a:rPr lang="en-US" sz="2000" b="1" dirty="0"/>
              <a:t>Feature Categories:</a:t>
            </a:r>
            <a:endParaRPr lang="en-US" dirty="0"/>
          </a:p>
          <a:p>
            <a:r>
              <a:rPr lang="en-US" dirty="0"/>
              <a:t>Weather Features: Temperature, Humidity, Wind, Pressure</a:t>
            </a:r>
          </a:p>
          <a:p>
            <a:r>
              <a:rPr lang="en-US" dirty="0"/>
              <a:t>Environmental Features: PM2.5, PM10, Ozone, CO</a:t>
            </a:r>
          </a:p>
          <a:p>
            <a:r>
              <a:rPr lang="en-US" dirty="0"/>
              <a:t>Geographical Features: Country, Latitude, Longitude</a:t>
            </a:r>
          </a:p>
          <a:p>
            <a:r>
              <a:rPr lang="en-US" dirty="0"/>
              <a:t>Temporal Features: Month, Season, Day, Hour</a:t>
            </a:r>
            <a:endParaRPr lang="en-IN" dirty="0"/>
          </a:p>
          <a:p>
            <a:pPr marL="0" indent="0">
              <a:buNone/>
            </a:pPr>
            <a:endParaRPr lang="en-IN" dirty="0"/>
          </a:p>
        </p:txBody>
      </p:sp>
      <p:pic>
        <p:nvPicPr>
          <p:cNvPr id="2050" name="Picture 2" descr="Kaggle icon">
            <a:extLst>
              <a:ext uri="{FF2B5EF4-FFF2-40B4-BE49-F238E27FC236}">
                <a16:creationId xmlns:a16="http://schemas.microsoft.com/office/drawing/2014/main" id="{F7E08E13-AE7B-BCE9-FB9E-034B82C2840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41342" y="1622322"/>
            <a:ext cx="3904498" cy="390449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5362429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14:reveal/>
      </p:transition>
    </mc:Choice>
    <mc:Fallback xmlns="">
      <p:transition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DF5311-0CF6-DBEB-ADCE-669D740293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4" y="373626"/>
            <a:ext cx="8596668" cy="835742"/>
          </a:xfrm>
        </p:spPr>
        <p:txBody>
          <a:bodyPr>
            <a:normAutofit/>
          </a:bodyPr>
          <a:lstStyle/>
          <a:p>
            <a:r>
              <a:rPr lang="en-IN" sz="4000" dirty="0">
                <a:solidFill>
                  <a:schemeClr val="accent2">
                    <a:lumMod val="75000"/>
                  </a:schemeClr>
                </a:solidFill>
              </a:rPr>
              <a:t>Data Cleaning and Preprocessing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1F49055-5857-A7C2-0524-6FC6280BE6E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1386349"/>
            <a:ext cx="7542434" cy="497512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Preprocessing Steps:</a:t>
            </a:r>
          </a:p>
          <a:p>
            <a:r>
              <a:rPr lang="en-US" dirty="0"/>
              <a:t>Checked missing values and duplicates</a:t>
            </a:r>
          </a:p>
          <a:p>
            <a:r>
              <a:rPr lang="en-US" dirty="0"/>
              <a:t>Converted timestamps into datetime format</a:t>
            </a:r>
          </a:p>
          <a:p>
            <a:r>
              <a:rPr lang="en-US" dirty="0"/>
              <a:t>Extracted temporal features</a:t>
            </a:r>
          </a:p>
          <a:p>
            <a:r>
              <a:rPr lang="en-US" dirty="0"/>
              <a:t>Performed outlier analysis</a:t>
            </a:r>
          </a:p>
          <a:p>
            <a:r>
              <a:rPr lang="en-US" dirty="0"/>
              <a:t>Created seasonal indicators</a:t>
            </a:r>
          </a:p>
          <a:p>
            <a:r>
              <a:rPr lang="en-US" dirty="0"/>
              <a:t>Generated lag and rolling features for forecasting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b="1" dirty="0"/>
              <a:t>Key Insight:</a:t>
            </a:r>
          </a:p>
          <a:p>
            <a:r>
              <a:rPr lang="en-US" dirty="0"/>
              <a:t>Extreme environmental observations were retained because weather data naturally contains meaningful anomalies such as storms, pollution spikes, and heavy rainfall events.</a:t>
            </a:r>
            <a:endParaRPr lang="en-IN" dirty="0"/>
          </a:p>
        </p:txBody>
      </p:sp>
      <p:graphicFrame>
        <p:nvGraphicFramePr>
          <p:cNvPr id="5" name="Diagram 4">
            <a:extLst>
              <a:ext uri="{FF2B5EF4-FFF2-40B4-BE49-F238E27FC236}">
                <a16:creationId xmlns:a16="http://schemas.microsoft.com/office/drawing/2014/main" id="{E09D52A9-AE41-FF48-7871-A0F98106587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626100417"/>
              </p:ext>
            </p:extLst>
          </p:nvPr>
        </p:nvGraphicFramePr>
        <p:xfrm>
          <a:off x="7327214" y="1386349"/>
          <a:ext cx="3893575" cy="475881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70456731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14:reveal/>
      </p:transition>
    </mc:Choice>
    <mc:Fallback xmlns="">
      <p:transition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9797D5-A474-7769-E787-548A7F15D3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4" y="393291"/>
            <a:ext cx="8596668" cy="875070"/>
          </a:xfrm>
        </p:spPr>
        <p:txBody>
          <a:bodyPr>
            <a:normAutofit/>
          </a:bodyPr>
          <a:lstStyle/>
          <a:p>
            <a:r>
              <a:rPr lang="en-IN" sz="4000" dirty="0">
                <a:solidFill>
                  <a:schemeClr val="accent2">
                    <a:lumMod val="75000"/>
                  </a:schemeClr>
                </a:solidFill>
              </a:rPr>
              <a:t>Temperature Distribution Analysis</a:t>
            </a:r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54B317B2-9B01-BA78-17B9-84717A923877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677334" y="1488613"/>
            <a:ext cx="6211612" cy="3368521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3B5229B-1703-D69F-7249-5E5C1D66C24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7181985" y="1488613"/>
            <a:ext cx="4184034" cy="3880773"/>
          </a:xfrm>
        </p:spPr>
        <p:txBody>
          <a:bodyPr>
            <a:normAutofit/>
          </a:bodyPr>
          <a:lstStyle/>
          <a:p>
            <a:r>
              <a:rPr lang="en-US" dirty="0"/>
              <a:t>Most temperature observations fall between 15°C and 30°C</a:t>
            </a:r>
          </a:p>
          <a:p>
            <a:r>
              <a:rPr lang="en-US" dirty="0"/>
              <a:t>Distribution shows moderate skewness</a:t>
            </a:r>
          </a:p>
          <a:p>
            <a:r>
              <a:rPr lang="en-US" dirty="0"/>
              <a:t>Extreme high and low temperatures are present</a:t>
            </a:r>
          </a:p>
          <a:p>
            <a:r>
              <a:rPr lang="en-US" dirty="0"/>
              <a:t>Global dataset captures diverse climatic conditions</a:t>
            </a:r>
          </a:p>
          <a:p>
            <a:r>
              <a:rPr lang="en-US" dirty="0"/>
              <a:t>Temperature variability supports forecasting analysis</a:t>
            </a:r>
            <a:endParaRPr lang="en-IN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54E349F-62DF-18AA-4437-CB3C77B2AB1D}"/>
              </a:ext>
            </a:extLst>
          </p:cNvPr>
          <p:cNvSpPr txBox="1"/>
          <p:nvPr/>
        </p:nvSpPr>
        <p:spPr>
          <a:xfrm>
            <a:off x="1060721" y="5369386"/>
            <a:ext cx="1030529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Key Insight:</a:t>
            </a:r>
          </a:p>
          <a:p>
            <a:r>
              <a:rPr lang="en-US" dirty="0"/>
              <a:t>The dataset exhibits strong climatic diversity across global regions.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83510587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14:reveal/>
      </p:transition>
    </mc:Choice>
    <mc:Fallback xmlns="">
      <p:transition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7B099E-6156-57DC-BBF1-50FEDEA430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4" y="243608"/>
            <a:ext cx="8596668" cy="825910"/>
          </a:xfrm>
        </p:spPr>
        <p:txBody>
          <a:bodyPr>
            <a:normAutofit/>
          </a:bodyPr>
          <a:lstStyle/>
          <a:p>
            <a:r>
              <a:rPr lang="en-IN" sz="4000" dirty="0">
                <a:solidFill>
                  <a:schemeClr val="accent2">
                    <a:lumMod val="75000"/>
                  </a:schemeClr>
                </a:solidFill>
              </a:rPr>
              <a:t>Correlation Analysis</a:t>
            </a:r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402BE24B-8775-0CE5-F72E-523A1A0CDB6D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943334" y="1219024"/>
            <a:ext cx="5732769" cy="4543353"/>
          </a:xfrm>
          <a:prstGeom prst="rect">
            <a:avLst/>
          </a:prstGeom>
        </p:spPr>
      </p:pic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26759F27-BEB8-837C-3ED5-DF13AA87D58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7181985" y="1338671"/>
            <a:ext cx="4184034" cy="3880773"/>
          </a:xfrm>
        </p:spPr>
        <p:txBody>
          <a:bodyPr>
            <a:normAutofit/>
          </a:bodyPr>
          <a:lstStyle/>
          <a:p>
            <a:r>
              <a:rPr lang="en-IN" dirty="0"/>
              <a:t>PM2.5 and PM10 show strong positive correlation</a:t>
            </a:r>
          </a:p>
          <a:p>
            <a:r>
              <a:rPr lang="en-IN" dirty="0"/>
              <a:t>Temperature positively correlates with UV Index</a:t>
            </a:r>
          </a:p>
          <a:p>
            <a:r>
              <a:rPr lang="en-IN" dirty="0"/>
              <a:t>Humidity negatively correlates with UV exposure</a:t>
            </a:r>
          </a:p>
          <a:p>
            <a:r>
              <a:rPr lang="en-IN" dirty="0"/>
              <a:t>Air quality indicators exhibit meaningful relationships</a:t>
            </a:r>
          </a:p>
          <a:p>
            <a:r>
              <a:rPr lang="en-IN" dirty="0"/>
              <a:t>Weather and environmental variables are interconnected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7CA5B7D-0185-0281-89C2-D72344836119}"/>
              </a:ext>
            </a:extLst>
          </p:cNvPr>
          <p:cNvSpPr txBox="1"/>
          <p:nvPr/>
        </p:nvSpPr>
        <p:spPr>
          <a:xfrm>
            <a:off x="972865" y="5756678"/>
            <a:ext cx="1027580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Key Insight:</a:t>
            </a:r>
          </a:p>
          <a:p>
            <a:r>
              <a:rPr lang="en-US" dirty="0"/>
              <a:t>Environmental and atmospheric variables show meaningful interactions useful for forecasting and analysis.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10782665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14:reveal/>
      </p:transition>
    </mc:Choice>
    <mc:Fallback xmlns="">
      <p:transition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7D1FF2-9892-986E-B3A1-396B9324C8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5" y="245807"/>
            <a:ext cx="10924730" cy="766916"/>
          </a:xfrm>
        </p:spPr>
        <p:txBody>
          <a:bodyPr>
            <a:noAutofit/>
          </a:bodyPr>
          <a:lstStyle/>
          <a:p>
            <a:r>
              <a:rPr lang="en-US" dirty="0">
                <a:solidFill>
                  <a:schemeClr val="accent2">
                    <a:lumMod val="75000"/>
                  </a:schemeClr>
                </a:solidFill>
              </a:rPr>
              <a:t>Monthly Temperature and Precipitation Trends</a:t>
            </a:r>
            <a:endParaRPr lang="en-IN" dirty="0">
              <a:solidFill>
                <a:schemeClr val="accent2">
                  <a:lumMod val="75000"/>
                </a:schemeClr>
              </a:solidFill>
            </a:endParaRPr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30461D7F-531D-1B27-73B3-3B0346E7E68F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543132" y="1448534"/>
            <a:ext cx="5418137" cy="3022273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926B5A6B-BE56-CAD7-BE94-8FF27F835A6D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/>
          <a:stretch>
            <a:fillRect/>
          </a:stretch>
        </p:blipFill>
        <p:spPr>
          <a:xfrm>
            <a:off x="6153238" y="1448533"/>
            <a:ext cx="5495630" cy="3022273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B2EC12C-6A9A-E10F-EE76-AAFF53E2CD72}"/>
              </a:ext>
            </a:extLst>
          </p:cNvPr>
          <p:cNvSpPr txBox="1"/>
          <p:nvPr/>
        </p:nvSpPr>
        <p:spPr>
          <a:xfrm>
            <a:off x="3224981" y="4798141"/>
            <a:ext cx="7895303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Temperature follows a clear seasonal cycle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Mid-year months exhibit peak temperatures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Precipitation patterns are more irregular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Seasonal rainfall patterns are visible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Temporal structure supports time-series forecasting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93022800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14:reveal/>
      </p:transition>
    </mc:Choice>
    <mc:Fallback xmlns="">
      <p:transition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DD4EC3-8644-26BE-D93E-10057644FB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4" y="334297"/>
            <a:ext cx="8596668" cy="904568"/>
          </a:xfrm>
        </p:spPr>
        <p:txBody>
          <a:bodyPr>
            <a:normAutofit/>
          </a:bodyPr>
          <a:lstStyle/>
          <a:p>
            <a:r>
              <a:rPr lang="en-IN" sz="4000" dirty="0">
                <a:solidFill>
                  <a:schemeClr val="accent2">
                    <a:lumMod val="75000"/>
                  </a:schemeClr>
                </a:solidFill>
              </a:rPr>
              <a:t>Seasonal Climate Analysis</a:t>
            </a:r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C6B2F573-24D3-4233-49AF-3CE73B531958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677333" y="1349300"/>
            <a:ext cx="5084369" cy="3478779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7DBD39ED-F689-8A8D-7C4F-6F2B17B17913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/>
          <a:stretch>
            <a:fillRect/>
          </a:stretch>
        </p:blipFill>
        <p:spPr>
          <a:xfrm>
            <a:off x="6426148" y="1406489"/>
            <a:ext cx="5088518" cy="3421590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DCCFB274-ADA5-77AB-A1AF-8410E67801F7}"/>
              </a:ext>
            </a:extLst>
          </p:cNvPr>
          <p:cNvSpPr txBox="1"/>
          <p:nvPr/>
        </p:nvSpPr>
        <p:spPr>
          <a:xfrm>
            <a:off x="3063516" y="4995703"/>
            <a:ext cx="6725263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Summer exhibits highest temperature and precipitation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Winter shows lowest temperature levels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Strong seasonal climatic variation is present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Seasonal trends confirm annual climate cycles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Seasonality is important for forecasting accuracy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9964303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14:reveal/>
      </p:transition>
    </mc:Choice>
    <mc:Fallback xmlns="">
      <p:transition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C7F940-C8D5-7B00-852B-9FBA32D810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4" y="353961"/>
            <a:ext cx="8596668" cy="835742"/>
          </a:xfrm>
        </p:spPr>
        <p:txBody>
          <a:bodyPr>
            <a:normAutofit/>
          </a:bodyPr>
          <a:lstStyle/>
          <a:p>
            <a:r>
              <a:rPr lang="en-IN" sz="4000" dirty="0">
                <a:solidFill>
                  <a:schemeClr val="accent2">
                    <a:lumMod val="75000"/>
                  </a:schemeClr>
                </a:solidFill>
              </a:rPr>
              <a:t>Environmental Impact Analysis</a:t>
            </a:r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66851AA3-8433-C2DB-7DD4-BB21B251B800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550044" y="1602658"/>
            <a:ext cx="5796632" cy="3087329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0A237DF6-278E-DA77-7200-4B6B26A72643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/>
          <a:stretch>
            <a:fillRect/>
          </a:stretch>
        </p:blipFill>
        <p:spPr>
          <a:xfrm>
            <a:off x="6548289" y="1602658"/>
            <a:ext cx="5093667" cy="3087327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C0FD3AA2-DA7C-9FD4-0571-99EDF5DB56A7}"/>
              </a:ext>
            </a:extLst>
          </p:cNvPr>
          <p:cNvSpPr txBox="1"/>
          <p:nvPr/>
        </p:nvSpPr>
        <p:spPr>
          <a:xfrm>
            <a:off x="3116826" y="4984953"/>
            <a:ext cx="7502013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/>
              <a:t>Significant variation exists in global PM2.5 levels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/>
              <a:t>Several regions exhibit elevated pollution concentrations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/>
              <a:t>Pollution indicators correlate with weather conditions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/>
              <a:t>Air quality analysis provides environmental insights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/>
              <a:t>Environmental variables contribute to forecasting behaviour</a:t>
            </a:r>
          </a:p>
        </p:txBody>
      </p:sp>
    </p:spTree>
    <p:extLst>
      <p:ext uri="{BB962C8B-B14F-4D97-AF65-F5344CB8AC3E}">
        <p14:creationId xmlns:p14="http://schemas.microsoft.com/office/powerpoint/2010/main" val="24641593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14:reveal/>
      </p:transition>
    </mc:Choice>
    <mc:Fallback xmlns="">
      <p:transition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A99E52-226F-7C2E-7F65-0687CD0663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3" y="383459"/>
            <a:ext cx="10492111" cy="1320800"/>
          </a:xfrm>
        </p:spPr>
        <p:txBody>
          <a:bodyPr/>
          <a:lstStyle/>
          <a:p>
            <a:r>
              <a:rPr lang="en-US" dirty="0">
                <a:solidFill>
                  <a:schemeClr val="accent2">
                    <a:lumMod val="75000"/>
                  </a:schemeClr>
                </a:solidFill>
              </a:rPr>
              <a:t>Geographical and Spatial Weather Analysis</a:t>
            </a:r>
            <a:endParaRPr lang="en-IN" dirty="0">
              <a:solidFill>
                <a:schemeClr val="accent2">
                  <a:lumMod val="75000"/>
                </a:schemeClr>
              </a:solidFill>
            </a:endParaRP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B1711A19-9BC3-DEF9-27B9-3C46114FEED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7333" y="1372897"/>
            <a:ext cx="10661838" cy="3494411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4DA594FD-6CBE-CD86-A3BD-EABC556869F3}"/>
              </a:ext>
            </a:extLst>
          </p:cNvPr>
          <p:cNvSpPr txBox="1"/>
          <p:nvPr/>
        </p:nvSpPr>
        <p:spPr>
          <a:xfrm>
            <a:off x="677332" y="5118082"/>
            <a:ext cx="10492111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IN" dirty="0"/>
              <a:t>Warmer regions cluster around tropical and desert areas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IN" dirty="0"/>
              <a:t>Cooler conditions appear at higher latitudes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IN" dirty="0"/>
              <a:t>Spatial weather patterns vary significantly worldwide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IN" dirty="0"/>
              <a:t>Geography strongly influences climatic behaviour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IN" dirty="0"/>
              <a:t>Spatial visualization improves regional climate understanding</a:t>
            </a:r>
          </a:p>
        </p:txBody>
      </p:sp>
    </p:spTree>
    <p:extLst>
      <p:ext uri="{BB962C8B-B14F-4D97-AF65-F5344CB8AC3E}">
        <p14:creationId xmlns:p14="http://schemas.microsoft.com/office/powerpoint/2010/main" val="4236852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14:reveal/>
      </p:transition>
    </mc:Choice>
    <mc:Fallback xmlns="">
      <p:transition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07DAEC-6933-BC61-140F-DA169F5287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4" y="383458"/>
            <a:ext cx="8596668" cy="785900"/>
          </a:xfrm>
        </p:spPr>
        <p:txBody>
          <a:bodyPr>
            <a:normAutofit/>
          </a:bodyPr>
          <a:lstStyle/>
          <a:p>
            <a:r>
              <a:rPr lang="en-IN" sz="4000" dirty="0">
                <a:solidFill>
                  <a:schemeClr val="accent2">
                    <a:lumMod val="75000"/>
                  </a:schemeClr>
                </a:solidFill>
              </a:rPr>
              <a:t>Environmental Anomaly Detection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F9961F64-AA1D-A7D9-611A-19E066E8F641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677333" y="1592826"/>
            <a:ext cx="6710074" cy="4267200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2086A9A-A729-DFF0-10C8-40802811719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7852835" y="1592826"/>
            <a:ext cx="4184034" cy="4448866"/>
          </a:xfrm>
        </p:spPr>
        <p:txBody>
          <a:bodyPr>
            <a:normAutofit/>
          </a:bodyPr>
          <a:lstStyle/>
          <a:p>
            <a:r>
              <a:rPr lang="en-US" b="1" dirty="0"/>
              <a:t>Method Used</a:t>
            </a:r>
            <a:r>
              <a:rPr lang="en-US" dirty="0"/>
              <a:t>: </a:t>
            </a:r>
            <a:r>
              <a:rPr lang="en-US" b="1" dirty="0"/>
              <a:t>Isolation Forest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b="1" dirty="0"/>
              <a:t>Features Used:</a:t>
            </a:r>
          </a:p>
          <a:p>
            <a:r>
              <a:rPr lang="en-US" dirty="0"/>
              <a:t>Temperature</a:t>
            </a:r>
          </a:p>
          <a:p>
            <a:r>
              <a:rPr lang="en-US" dirty="0"/>
              <a:t>Humidity</a:t>
            </a:r>
          </a:p>
          <a:p>
            <a:r>
              <a:rPr lang="en-US" dirty="0"/>
              <a:t>PM2.5</a:t>
            </a:r>
          </a:p>
          <a:p>
            <a:r>
              <a:rPr lang="en-US" dirty="0"/>
              <a:t>PM10</a:t>
            </a:r>
          </a:p>
          <a:p>
            <a:r>
              <a:rPr lang="en-US" dirty="0"/>
              <a:t>Pressure</a:t>
            </a:r>
          </a:p>
          <a:p>
            <a:r>
              <a:rPr lang="en-US" dirty="0"/>
              <a:t>Wind Speed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88227458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14:reveal/>
      </p:transition>
    </mc:Choice>
    <mc:Fallback xmlns="">
      <p:transition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ACA1FD-D098-4F16-8714-452FD8499E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6" y="393851"/>
            <a:ext cx="8596668" cy="845574"/>
          </a:xfrm>
        </p:spPr>
        <p:txBody>
          <a:bodyPr>
            <a:normAutofit/>
          </a:bodyPr>
          <a:lstStyle/>
          <a:p>
            <a:r>
              <a:rPr lang="en-IN" sz="4000" dirty="0">
                <a:solidFill>
                  <a:schemeClr val="accent2">
                    <a:lumMod val="75000"/>
                  </a:schemeClr>
                </a:solidFill>
              </a:rPr>
              <a:t>Feature Importance Analysis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F922E5C0-01DF-A6E7-176F-919434CF26C8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677336" y="1740310"/>
            <a:ext cx="6650719" cy="3880772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A85D61C-A780-4DAB-2AA4-B0ABF4AD2EB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7607028" y="1740310"/>
            <a:ext cx="4184034" cy="3880773"/>
          </a:xfrm>
        </p:spPr>
        <p:txBody>
          <a:bodyPr>
            <a:normAutofit/>
          </a:bodyPr>
          <a:lstStyle/>
          <a:p>
            <a:r>
              <a:rPr lang="en-US" dirty="0"/>
              <a:t>UV Index was the strongest predictor</a:t>
            </a:r>
          </a:p>
          <a:p>
            <a:r>
              <a:rPr lang="en-US" dirty="0"/>
              <a:t>Pressure and humidity strongly influenced temperature</a:t>
            </a:r>
          </a:p>
          <a:p>
            <a:r>
              <a:rPr lang="en-US" dirty="0"/>
              <a:t>Visibility and cloud cover were significant</a:t>
            </a:r>
          </a:p>
          <a:p>
            <a:r>
              <a:rPr lang="en-US" dirty="0"/>
              <a:t>Environmental indicators contributed to prediction</a:t>
            </a:r>
          </a:p>
          <a:p>
            <a:r>
              <a:rPr lang="en-US" dirty="0"/>
              <a:t>Weather variables exhibit interconnected behavior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1727541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14:reveal/>
      </p:transition>
    </mc:Choice>
    <mc:Fallback xmlns="">
      <p:transition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AF92F1-8199-D786-32E4-4C6312B31D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6" y="334297"/>
            <a:ext cx="8596668" cy="845574"/>
          </a:xfrm>
        </p:spPr>
        <p:txBody>
          <a:bodyPr/>
          <a:lstStyle/>
          <a:p>
            <a:r>
              <a:rPr lang="en-IN" dirty="0">
                <a:solidFill>
                  <a:schemeClr val="accent2">
                    <a:lumMod val="75000"/>
                  </a:schemeClr>
                </a:solidFill>
              </a:rPr>
              <a:t>Forecasting Pipeline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73043D5-166D-CF4F-BC24-2A6492B0122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77336" y="1297859"/>
            <a:ext cx="5920109" cy="4862154"/>
          </a:xfrm>
        </p:spPr>
        <p:txBody>
          <a:bodyPr>
            <a:normAutofit/>
          </a:bodyPr>
          <a:lstStyle/>
          <a:p>
            <a:r>
              <a:rPr lang="en-US" b="1" dirty="0"/>
              <a:t>Forecasting Target</a:t>
            </a:r>
            <a:r>
              <a:rPr lang="en-US" dirty="0"/>
              <a:t>: Temperature (°C)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b="1" dirty="0"/>
              <a:t>Forecasting Features</a:t>
            </a:r>
            <a:r>
              <a:rPr lang="en-US" dirty="0"/>
              <a:t>:</a:t>
            </a:r>
          </a:p>
          <a:p>
            <a:r>
              <a:rPr lang="en-US" dirty="0"/>
              <a:t>Lag Features</a:t>
            </a:r>
          </a:p>
          <a:p>
            <a:r>
              <a:rPr lang="en-US" dirty="0"/>
              <a:t>Rolling Means</a:t>
            </a:r>
          </a:p>
          <a:p>
            <a:r>
              <a:rPr lang="en-US" dirty="0"/>
              <a:t>Month</a:t>
            </a:r>
          </a:p>
          <a:p>
            <a:r>
              <a:rPr lang="en-US" dirty="0"/>
              <a:t>Day of Year</a:t>
            </a:r>
          </a:p>
          <a:p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Time-series forecasting was performed using chronologically ordered weather observations from Tokyo.</a:t>
            </a:r>
            <a:endParaRPr lang="en-IN" dirty="0"/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DD02760E-F96B-B71E-5A46-048A8092C1B6}"/>
              </a:ext>
            </a:extLst>
          </p:cNvPr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2581194607"/>
              </p:ext>
            </p:extLst>
          </p:nvPr>
        </p:nvGraphicFramePr>
        <p:xfrm>
          <a:off x="5670718" y="1179871"/>
          <a:ext cx="5499817" cy="486215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3685175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14:reveal/>
      </p:transition>
    </mc:Choice>
    <mc:Fallback xmlns="">
      <p:transition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A2B48D-610E-2BFE-36D3-72F682F89D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6" y="324465"/>
            <a:ext cx="8596668" cy="786580"/>
          </a:xfrm>
        </p:spPr>
        <p:txBody>
          <a:bodyPr/>
          <a:lstStyle/>
          <a:p>
            <a:r>
              <a:rPr lang="en-IN" dirty="0">
                <a:solidFill>
                  <a:schemeClr val="accent2">
                    <a:lumMod val="75000"/>
                  </a:schemeClr>
                </a:solidFill>
              </a:rPr>
              <a:t>Forecasting Models Implemented</a:t>
            </a:r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EE7CE1BF-7868-AF11-47A8-EABEF84B5717}"/>
              </a:ext>
            </a:extLst>
          </p:cNvPr>
          <p:cNvGraphicFramePr>
            <a:graphicFrameLocks noGrp="1"/>
          </p:cNvGraphicFramePr>
          <p:nvPr>
            <p:ph sz="half" idx="1"/>
            <p:extLst>
              <p:ext uri="{D42A27DB-BD31-4B8C-83A1-F6EECF244321}">
                <p14:modId xmlns:p14="http://schemas.microsoft.com/office/powerpoint/2010/main" val="4054474568"/>
              </p:ext>
            </p:extLst>
          </p:nvPr>
        </p:nvGraphicFramePr>
        <p:xfrm>
          <a:off x="677335" y="1641987"/>
          <a:ext cx="6224910" cy="3549445"/>
        </p:xfrm>
        <a:graphic>
          <a:graphicData uri="http://schemas.openxmlformats.org/drawingml/2006/table">
            <a:tbl>
              <a:tblPr>
                <a:tableStyleId>{3C2FFA5D-87B4-456A-9821-1D502468CF0F}</a:tableStyleId>
              </a:tblPr>
              <a:tblGrid>
                <a:gridCol w="3112455">
                  <a:extLst>
                    <a:ext uri="{9D8B030D-6E8A-4147-A177-3AD203B41FA5}">
                      <a16:colId xmlns:a16="http://schemas.microsoft.com/office/drawing/2014/main" val="2867025992"/>
                    </a:ext>
                  </a:extLst>
                </a:gridCol>
                <a:gridCol w="3112455">
                  <a:extLst>
                    <a:ext uri="{9D8B030D-6E8A-4147-A177-3AD203B41FA5}">
                      <a16:colId xmlns:a16="http://schemas.microsoft.com/office/drawing/2014/main" val="3514940919"/>
                    </a:ext>
                  </a:extLst>
                </a:gridCol>
              </a:tblGrid>
              <a:tr h="70988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400" b="1" dirty="0"/>
                        <a:t>Model</a:t>
                      </a:r>
                    </a:p>
                  </a:txBody>
                  <a:tcPr marL="44496" marR="44496" marT="22248" marB="22248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400" b="1" dirty="0"/>
                        <a:t>Purpose</a:t>
                      </a:r>
                    </a:p>
                  </a:txBody>
                  <a:tcPr marL="44496" marR="44496" marT="22248" marB="22248" anchor="ctr"/>
                </a:tc>
                <a:extLst>
                  <a:ext uri="{0D108BD9-81ED-4DB2-BD59-A6C34878D82A}">
                    <a16:rowId xmlns:a16="http://schemas.microsoft.com/office/drawing/2014/main" val="2215764254"/>
                  </a:ext>
                </a:extLst>
              </a:tr>
              <a:tr h="70988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800"/>
                        <a:t>Baseline Moving Average</a:t>
                      </a:r>
                    </a:p>
                  </a:txBody>
                  <a:tcPr marL="44496" marR="44496" marT="22248" marB="22248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800" dirty="0"/>
                        <a:t>Simple temporal benchmark</a:t>
                      </a:r>
                    </a:p>
                  </a:txBody>
                  <a:tcPr marL="44496" marR="44496" marT="22248" marB="22248" anchor="ctr"/>
                </a:tc>
                <a:extLst>
                  <a:ext uri="{0D108BD9-81ED-4DB2-BD59-A6C34878D82A}">
                    <a16:rowId xmlns:a16="http://schemas.microsoft.com/office/drawing/2014/main" val="536391140"/>
                  </a:ext>
                </a:extLst>
              </a:tr>
              <a:tr h="70988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800"/>
                        <a:t>Random Forest Regressor</a:t>
                      </a:r>
                    </a:p>
                  </a:txBody>
                  <a:tcPr marL="44496" marR="44496" marT="22248" marB="22248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800"/>
                        <a:t>Nonlinear ML forecasting</a:t>
                      </a:r>
                    </a:p>
                  </a:txBody>
                  <a:tcPr marL="44496" marR="44496" marT="22248" marB="22248" anchor="ctr"/>
                </a:tc>
                <a:extLst>
                  <a:ext uri="{0D108BD9-81ED-4DB2-BD59-A6C34878D82A}">
                    <a16:rowId xmlns:a16="http://schemas.microsoft.com/office/drawing/2014/main" val="2224316811"/>
                  </a:ext>
                </a:extLst>
              </a:tr>
              <a:tr h="70988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800" dirty="0" err="1"/>
                        <a:t>XGBoost</a:t>
                      </a:r>
                      <a:r>
                        <a:rPr lang="en-IN" sz="1800" dirty="0"/>
                        <a:t> Regressor</a:t>
                      </a:r>
                    </a:p>
                  </a:txBody>
                  <a:tcPr marL="44496" marR="44496" marT="22248" marB="22248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800" dirty="0"/>
                        <a:t>Advanced boosting model</a:t>
                      </a:r>
                    </a:p>
                  </a:txBody>
                  <a:tcPr marL="44496" marR="44496" marT="22248" marB="22248" anchor="ctr"/>
                </a:tc>
                <a:extLst>
                  <a:ext uri="{0D108BD9-81ED-4DB2-BD59-A6C34878D82A}">
                    <a16:rowId xmlns:a16="http://schemas.microsoft.com/office/drawing/2014/main" val="2550809497"/>
                  </a:ext>
                </a:extLst>
              </a:tr>
              <a:tr h="70988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800"/>
                        <a:t>Ensemble Model</a:t>
                      </a:r>
                    </a:p>
                  </a:txBody>
                  <a:tcPr marL="44496" marR="44496" marT="22248" marB="22248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800" dirty="0"/>
                        <a:t>Combined multi-model prediction</a:t>
                      </a:r>
                    </a:p>
                  </a:txBody>
                  <a:tcPr marL="44496" marR="44496" marT="22248" marB="22248" anchor="ctr"/>
                </a:tc>
                <a:extLst>
                  <a:ext uri="{0D108BD9-81ED-4DB2-BD59-A6C34878D82A}">
                    <a16:rowId xmlns:a16="http://schemas.microsoft.com/office/drawing/2014/main" val="4097133023"/>
                  </a:ext>
                </a:extLst>
              </a:tr>
            </a:tbl>
          </a:graphicData>
        </a:graphic>
      </p:graphicFrame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DD38BE5-4AE0-CB41-2826-CDE790EF9BF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7703729" y="1641987"/>
            <a:ext cx="4184034" cy="3460955"/>
          </a:xfrm>
        </p:spPr>
        <p:txBody>
          <a:bodyPr/>
          <a:lstStyle/>
          <a:p>
            <a:pPr marL="0" indent="0">
              <a:buNone/>
            </a:pPr>
            <a:r>
              <a:rPr lang="en-IN" b="1" dirty="0"/>
              <a:t>Evaluation Metrics</a:t>
            </a:r>
          </a:p>
          <a:p>
            <a:endParaRPr lang="en-IN" dirty="0"/>
          </a:p>
          <a:p>
            <a:r>
              <a:rPr lang="en-IN" dirty="0"/>
              <a:t>MAE</a:t>
            </a:r>
          </a:p>
          <a:p>
            <a:r>
              <a:rPr lang="en-IN" dirty="0"/>
              <a:t>RMSE</a:t>
            </a:r>
          </a:p>
          <a:p>
            <a:r>
              <a:rPr lang="en-IN" dirty="0"/>
              <a:t>R² Score</a:t>
            </a:r>
          </a:p>
          <a:p>
            <a:r>
              <a:rPr lang="en-IN" dirty="0"/>
              <a:t>MAPE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F61AF7A-24E9-96A6-FF28-801182D859B9}"/>
              </a:ext>
            </a:extLst>
          </p:cNvPr>
          <p:cNvSpPr txBox="1"/>
          <p:nvPr/>
        </p:nvSpPr>
        <p:spPr>
          <a:xfrm>
            <a:off x="677335" y="5525729"/>
            <a:ext cx="1013814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Multiple forecasting approaches were compared to evaluate predictive performance and robustness.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90307956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14:reveal/>
      </p:transition>
    </mc:Choice>
    <mc:Fallback xmlns="">
      <p:transition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7D464F-5A97-3E4E-DB1E-FF337D122B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4" y="403683"/>
            <a:ext cx="9843182" cy="825910"/>
          </a:xfrm>
        </p:spPr>
        <p:txBody>
          <a:bodyPr/>
          <a:lstStyle/>
          <a:p>
            <a:r>
              <a:rPr lang="en-IN" dirty="0">
                <a:solidFill>
                  <a:schemeClr val="accent2">
                    <a:lumMod val="75000"/>
                  </a:schemeClr>
                </a:solidFill>
              </a:rPr>
              <a:t>Forecasting Model Performance Comparison</a:t>
            </a:r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6CBC5B2B-7E58-B7F3-0623-0A3D0B6BAE06}"/>
              </a:ext>
            </a:extLst>
          </p:cNvPr>
          <p:cNvGraphicFramePr>
            <a:graphicFrameLocks noGrp="1"/>
          </p:cNvGraphicFramePr>
          <p:nvPr>
            <p:ph sz="half" idx="1"/>
            <p:extLst>
              <p:ext uri="{D42A27DB-BD31-4B8C-83A1-F6EECF244321}">
                <p14:modId xmlns:p14="http://schemas.microsoft.com/office/powerpoint/2010/main" val="2001182551"/>
              </p:ext>
            </p:extLst>
          </p:nvPr>
        </p:nvGraphicFramePr>
        <p:xfrm>
          <a:off x="677864" y="1455789"/>
          <a:ext cx="6312870" cy="3558664"/>
        </p:xfrm>
        <a:graphic>
          <a:graphicData uri="http://schemas.openxmlformats.org/drawingml/2006/table">
            <a:tbl>
              <a:tblPr>
                <a:tableStyleId>{3C2FFA5D-87B4-456A-9821-1D502468CF0F}</a:tableStyleId>
              </a:tblPr>
              <a:tblGrid>
                <a:gridCol w="1262574">
                  <a:extLst>
                    <a:ext uri="{9D8B030D-6E8A-4147-A177-3AD203B41FA5}">
                      <a16:colId xmlns:a16="http://schemas.microsoft.com/office/drawing/2014/main" val="262846401"/>
                    </a:ext>
                  </a:extLst>
                </a:gridCol>
                <a:gridCol w="1262574">
                  <a:extLst>
                    <a:ext uri="{9D8B030D-6E8A-4147-A177-3AD203B41FA5}">
                      <a16:colId xmlns:a16="http://schemas.microsoft.com/office/drawing/2014/main" val="266778788"/>
                    </a:ext>
                  </a:extLst>
                </a:gridCol>
                <a:gridCol w="1262574">
                  <a:extLst>
                    <a:ext uri="{9D8B030D-6E8A-4147-A177-3AD203B41FA5}">
                      <a16:colId xmlns:a16="http://schemas.microsoft.com/office/drawing/2014/main" val="3184925426"/>
                    </a:ext>
                  </a:extLst>
                </a:gridCol>
                <a:gridCol w="1262574">
                  <a:extLst>
                    <a:ext uri="{9D8B030D-6E8A-4147-A177-3AD203B41FA5}">
                      <a16:colId xmlns:a16="http://schemas.microsoft.com/office/drawing/2014/main" val="1673684725"/>
                    </a:ext>
                  </a:extLst>
                </a:gridCol>
                <a:gridCol w="1262574">
                  <a:extLst>
                    <a:ext uri="{9D8B030D-6E8A-4147-A177-3AD203B41FA5}">
                      <a16:colId xmlns:a16="http://schemas.microsoft.com/office/drawing/2014/main" val="3386274507"/>
                    </a:ext>
                  </a:extLst>
                </a:gridCol>
              </a:tblGrid>
              <a:tr h="61835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800" b="1" dirty="0"/>
                        <a:t>Model</a:t>
                      </a:r>
                    </a:p>
                  </a:txBody>
                  <a:tcPr marL="44496" marR="44496" marT="22248" marB="22248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800" b="1"/>
                        <a:t>MAE</a:t>
                      </a:r>
                    </a:p>
                  </a:txBody>
                  <a:tcPr marL="44496" marR="44496" marT="22248" marB="22248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800" b="1"/>
                        <a:t>RMSE</a:t>
                      </a:r>
                    </a:p>
                  </a:txBody>
                  <a:tcPr marL="44496" marR="44496" marT="22248" marB="22248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800" b="1"/>
                        <a:t>R²</a:t>
                      </a:r>
                    </a:p>
                  </a:txBody>
                  <a:tcPr marL="44496" marR="44496" marT="22248" marB="22248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800" b="1" dirty="0"/>
                        <a:t>MAPE</a:t>
                      </a:r>
                    </a:p>
                  </a:txBody>
                  <a:tcPr marL="44496" marR="44496" marT="22248" marB="22248" anchor="ctr"/>
                </a:tc>
                <a:extLst>
                  <a:ext uri="{0D108BD9-81ED-4DB2-BD59-A6C34878D82A}">
                    <a16:rowId xmlns:a16="http://schemas.microsoft.com/office/drawing/2014/main" val="527145170"/>
                  </a:ext>
                </a:extLst>
              </a:tr>
              <a:tr h="61835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800" b="1" dirty="0"/>
                        <a:t>Baseline</a:t>
                      </a:r>
                    </a:p>
                  </a:txBody>
                  <a:tcPr marL="44496" marR="44496" marT="22248" marB="22248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800"/>
                        <a:t>2.47</a:t>
                      </a:r>
                    </a:p>
                  </a:txBody>
                  <a:tcPr marL="44496" marR="44496" marT="22248" marB="22248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800"/>
                        <a:t>3.00</a:t>
                      </a:r>
                    </a:p>
                  </a:txBody>
                  <a:tcPr marL="44496" marR="44496" marT="22248" marB="22248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800"/>
                        <a:t>0.67</a:t>
                      </a:r>
                    </a:p>
                  </a:txBody>
                  <a:tcPr marL="44496" marR="44496" marT="22248" marB="22248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800"/>
                        <a:t>18.66</a:t>
                      </a:r>
                    </a:p>
                  </a:txBody>
                  <a:tcPr marL="44496" marR="44496" marT="22248" marB="22248" anchor="ctr"/>
                </a:tc>
                <a:extLst>
                  <a:ext uri="{0D108BD9-81ED-4DB2-BD59-A6C34878D82A}">
                    <a16:rowId xmlns:a16="http://schemas.microsoft.com/office/drawing/2014/main" val="586279783"/>
                  </a:ext>
                </a:extLst>
              </a:tr>
              <a:tr h="108524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800" b="1" dirty="0"/>
                        <a:t>Random Forest</a:t>
                      </a:r>
                    </a:p>
                  </a:txBody>
                  <a:tcPr marL="44496" marR="44496" marT="22248" marB="22248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800"/>
                        <a:t>2.68</a:t>
                      </a:r>
                    </a:p>
                  </a:txBody>
                  <a:tcPr marL="44496" marR="44496" marT="22248" marB="22248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800"/>
                        <a:t>3.28</a:t>
                      </a:r>
                    </a:p>
                  </a:txBody>
                  <a:tcPr marL="44496" marR="44496" marT="22248" marB="22248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800" dirty="0"/>
                        <a:t>0.60</a:t>
                      </a:r>
                    </a:p>
                  </a:txBody>
                  <a:tcPr marL="44496" marR="44496" marT="22248" marB="22248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800"/>
                        <a:t>19.93</a:t>
                      </a:r>
                    </a:p>
                  </a:txBody>
                  <a:tcPr marL="44496" marR="44496" marT="22248" marB="22248" anchor="ctr"/>
                </a:tc>
                <a:extLst>
                  <a:ext uri="{0D108BD9-81ED-4DB2-BD59-A6C34878D82A}">
                    <a16:rowId xmlns:a16="http://schemas.microsoft.com/office/drawing/2014/main" val="2475789363"/>
                  </a:ext>
                </a:extLst>
              </a:tr>
              <a:tr h="61835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800" b="1" dirty="0" err="1"/>
                        <a:t>XGBoost</a:t>
                      </a:r>
                      <a:endParaRPr lang="en-IN" sz="1800" b="1" dirty="0"/>
                    </a:p>
                  </a:txBody>
                  <a:tcPr marL="44496" marR="44496" marT="22248" marB="22248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800"/>
                        <a:t>2.79</a:t>
                      </a:r>
                    </a:p>
                  </a:txBody>
                  <a:tcPr marL="44496" marR="44496" marT="22248" marB="22248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800"/>
                        <a:t>3.51</a:t>
                      </a:r>
                    </a:p>
                  </a:txBody>
                  <a:tcPr marL="44496" marR="44496" marT="22248" marB="22248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800"/>
                        <a:t>0.54</a:t>
                      </a:r>
                    </a:p>
                  </a:txBody>
                  <a:tcPr marL="44496" marR="44496" marT="22248" marB="22248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800"/>
                        <a:t>21.11</a:t>
                      </a:r>
                    </a:p>
                  </a:txBody>
                  <a:tcPr marL="44496" marR="44496" marT="22248" marB="22248" anchor="ctr"/>
                </a:tc>
                <a:extLst>
                  <a:ext uri="{0D108BD9-81ED-4DB2-BD59-A6C34878D82A}">
                    <a16:rowId xmlns:a16="http://schemas.microsoft.com/office/drawing/2014/main" val="4246487701"/>
                  </a:ext>
                </a:extLst>
              </a:tr>
              <a:tr h="61835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800" b="1" dirty="0"/>
                        <a:t>Ensemble</a:t>
                      </a:r>
                    </a:p>
                  </a:txBody>
                  <a:tcPr marL="44496" marR="44496" marT="22248" marB="22248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800"/>
                        <a:t>2.50</a:t>
                      </a:r>
                    </a:p>
                  </a:txBody>
                  <a:tcPr marL="44496" marR="44496" marT="22248" marB="22248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800"/>
                        <a:t>3.12</a:t>
                      </a:r>
                    </a:p>
                  </a:txBody>
                  <a:tcPr marL="44496" marR="44496" marT="22248" marB="22248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800" dirty="0"/>
                        <a:t>0.64</a:t>
                      </a:r>
                    </a:p>
                  </a:txBody>
                  <a:tcPr marL="44496" marR="44496" marT="22248" marB="22248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800" dirty="0"/>
                        <a:t>18.81</a:t>
                      </a:r>
                    </a:p>
                  </a:txBody>
                  <a:tcPr marL="44496" marR="44496" marT="22248" marB="22248" anchor="ctr"/>
                </a:tc>
                <a:extLst>
                  <a:ext uri="{0D108BD9-81ED-4DB2-BD59-A6C34878D82A}">
                    <a16:rowId xmlns:a16="http://schemas.microsoft.com/office/drawing/2014/main" val="3373595799"/>
                  </a:ext>
                </a:extLst>
              </a:tr>
            </a:tbl>
          </a:graphicData>
        </a:graphic>
      </p:graphicFrame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FA8BC98-7725-0969-CC31-1F8F7C0CF16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7508705" y="1455787"/>
            <a:ext cx="4184034" cy="3932289"/>
          </a:xfrm>
        </p:spPr>
        <p:txBody>
          <a:bodyPr/>
          <a:lstStyle/>
          <a:p>
            <a:pPr marL="0" indent="0">
              <a:buNone/>
            </a:pPr>
            <a:r>
              <a:rPr lang="en-IN" b="1" dirty="0"/>
              <a:t>Insights:</a:t>
            </a:r>
            <a:endParaRPr lang="en-US" b="1" dirty="0"/>
          </a:p>
          <a:p>
            <a:endParaRPr lang="en-US" dirty="0"/>
          </a:p>
          <a:p>
            <a:r>
              <a:rPr lang="en-US" dirty="0"/>
              <a:t>Baseline model achieved best performance</a:t>
            </a:r>
          </a:p>
          <a:p>
            <a:r>
              <a:rPr lang="en-US" dirty="0"/>
              <a:t>Strong seasonality dominated the signal</a:t>
            </a:r>
          </a:p>
          <a:p>
            <a:r>
              <a:rPr lang="en-US" dirty="0"/>
              <a:t>Ensemble improved robustness over ML models</a:t>
            </a:r>
          </a:p>
          <a:p>
            <a:r>
              <a:rPr lang="en-US" dirty="0"/>
              <a:t>Simpler temporal methods performed effectively</a:t>
            </a:r>
            <a:endParaRPr lang="en-IN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9A2BE64-FA60-F55C-392C-43D940B2B1E1}"/>
              </a:ext>
            </a:extLst>
          </p:cNvPr>
          <p:cNvSpPr txBox="1"/>
          <p:nvPr/>
        </p:nvSpPr>
        <p:spPr>
          <a:xfrm>
            <a:off x="677334" y="5486400"/>
            <a:ext cx="1021680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Key Insight:</a:t>
            </a:r>
          </a:p>
          <a:p>
            <a:r>
              <a:rPr lang="en-US" dirty="0"/>
              <a:t>Strong temporal smoothness in the temperature series allowed simpler forecasting approaches to outperform more complex machine learning models.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83637775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14:reveal/>
      </p:transition>
    </mc:Choice>
    <mc:Fallback xmlns="">
      <p:transition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CC86D6-836C-2B5C-3E2F-307CF287C0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862" y="311202"/>
            <a:ext cx="8596668" cy="825910"/>
          </a:xfrm>
        </p:spPr>
        <p:txBody>
          <a:bodyPr>
            <a:normAutofit/>
          </a:bodyPr>
          <a:lstStyle/>
          <a:p>
            <a:r>
              <a:rPr lang="en-IN" sz="4000" dirty="0">
                <a:solidFill>
                  <a:schemeClr val="accent2">
                    <a:lumMod val="75000"/>
                  </a:schemeClr>
                </a:solidFill>
              </a:rPr>
              <a:t>Actual vs Forecasted Temperature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AC025502-479D-34AA-262B-C0B37EC3188A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943897" y="1137112"/>
            <a:ext cx="10304206" cy="4077367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8F1A2F0-1CC7-38E2-1621-AE997CC83F2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943897" y="5329084"/>
            <a:ext cx="9450173" cy="1276707"/>
          </a:xfrm>
        </p:spPr>
        <p:txBody>
          <a:bodyPr>
            <a:noAutofit/>
          </a:bodyPr>
          <a:lstStyle/>
          <a:p>
            <a:r>
              <a:rPr lang="en-US" sz="1200" dirty="0"/>
              <a:t>Forecasted temperatures closely followed overall trends</a:t>
            </a:r>
          </a:p>
          <a:p>
            <a:r>
              <a:rPr lang="en-US" sz="1200" dirty="0"/>
              <a:t>Seasonal movement was captured effectively</a:t>
            </a:r>
          </a:p>
          <a:p>
            <a:r>
              <a:rPr lang="en-US" sz="1200" dirty="0"/>
              <a:t>Short-term fluctuations were partially captured</a:t>
            </a:r>
          </a:p>
          <a:p>
            <a:r>
              <a:rPr lang="en-US" sz="1200" dirty="0"/>
              <a:t>Forecasting results demonstrated strong temporal predictability</a:t>
            </a:r>
            <a:endParaRPr lang="en-IN" sz="1200" dirty="0"/>
          </a:p>
        </p:txBody>
      </p:sp>
    </p:spTree>
    <p:extLst>
      <p:ext uri="{BB962C8B-B14F-4D97-AF65-F5344CB8AC3E}">
        <p14:creationId xmlns:p14="http://schemas.microsoft.com/office/powerpoint/2010/main" val="302125089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14:reveal/>
      </p:transition>
    </mc:Choice>
    <mc:Fallback xmlns="">
      <p:transition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2F1887-180F-F964-1EBF-D5FB3B4626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4" y="320109"/>
            <a:ext cx="8596668" cy="835742"/>
          </a:xfrm>
        </p:spPr>
        <p:txBody>
          <a:bodyPr>
            <a:normAutofit/>
          </a:bodyPr>
          <a:lstStyle/>
          <a:p>
            <a:r>
              <a:rPr lang="en-IN" sz="4000" dirty="0">
                <a:solidFill>
                  <a:schemeClr val="accent2">
                    <a:lumMod val="75000"/>
                  </a:schemeClr>
                </a:solidFill>
              </a:rPr>
              <a:t>Key Insights and Learnings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CDC1046-D88F-CC02-C9FE-43F981F9E6D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77334" y="1425677"/>
            <a:ext cx="5418666" cy="461568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IN" sz="2000" b="1" dirty="0"/>
              <a:t>Analytical Insights:</a:t>
            </a:r>
          </a:p>
          <a:p>
            <a:endParaRPr lang="en-IN" sz="2000" dirty="0"/>
          </a:p>
          <a:p>
            <a:r>
              <a:rPr lang="en-IN" sz="2000" dirty="0"/>
              <a:t>Global weather patterns exhibit strong seasonality</a:t>
            </a:r>
          </a:p>
          <a:p>
            <a:r>
              <a:rPr lang="en-IN" sz="2000" dirty="0"/>
              <a:t>Environmental variables show meaningful correlations</a:t>
            </a:r>
          </a:p>
          <a:p>
            <a:r>
              <a:rPr lang="en-IN" sz="2000" dirty="0"/>
              <a:t>Air quality indicators vary significantly across regions</a:t>
            </a:r>
          </a:p>
          <a:p>
            <a:r>
              <a:rPr lang="en-IN" sz="2000" dirty="0"/>
              <a:t>Spatial analysis revealed geographical climate differences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4CCCB1F-EBA1-7561-1059-131E147A29E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400800" y="1425676"/>
            <a:ext cx="5043948" cy="461568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IN" sz="2000" b="1" dirty="0"/>
              <a:t>Modelling Insights:</a:t>
            </a:r>
          </a:p>
          <a:p>
            <a:endParaRPr lang="en-IN" sz="2000" dirty="0"/>
          </a:p>
          <a:p>
            <a:r>
              <a:rPr lang="en-US" sz="2000" dirty="0"/>
              <a:t>Time-series features improved forecasting capability</a:t>
            </a:r>
          </a:p>
          <a:p>
            <a:r>
              <a:rPr lang="en-US" sz="2000" dirty="0"/>
              <a:t>Isolation Forest effectively identified anomalies</a:t>
            </a:r>
          </a:p>
          <a:p>
            <a:r>
              <a:rPr lang="en-US" sz="2000" dirty="0"/>
              <a:t>Simpler forecasting models performed competitively</a:t>
            </a:r>
          </a:p>
          <a:p>
            <a:r>
              <a:rPr lang="en-US" sz="2000" dirty="0"/>
              <a:t>Ensemble methods improved prediction robustness</a:t>
            </a:r>
            <a:endParaRPr lang="en-IN" sz="2000" dirty="0"/>
          </a:p>
        </p:txBody>
      </p:sp>
    </p:spTree>
    <p:extLst>
      <p:ext uri="{BB962C8B-B14F-4D97-AF65-F5344CB8AC3E}">
        <p14:creationId xmlns:p14="http://schemas.microsoft.com/office/powerpoint/2010/main" val="26873948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14:reveal/>
      </p:transition>
    </mc:Choice>
    <mc:Fallback xmlns="">
      <p:transition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D8E5E5-F146-9722-8E14-3DF481CD7D7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07065" y="723217"/>
            <a:ext cx="8413681" cy="1646302"/>
          </a:xfrm>
        </p:spPr>
        <p:txBody>
          <a:bodyPr>
            <a:normAutofit/>
          </a:bodyPr>
          <a:lstStyle/>
          <a:p>
            <a:r>
              <a:rPr lang="en-IN" b="1" dirty="0">
                <a:solidFill>
                  <a:schemeClr val="accent2">
                    <a:lumMod val="75000"/>
                  </a:schemeClr>
                </a:solidFill>
              </a:rPr>
              <a:t>Thank</a:t>
            </a:r>
            <a:r>
              <a:rPr lang="en-IN" b="1" dirty="0"/>
              <a:t> </a:t>
            </a:r>
            <a:r>
              <a:rPr lang="en-IN" b="1" dirty="0">
                <a:solidFill>
                  <a:schemeClr val="accent2">
                    <a:lumMod val="75000"/>
                  </a:schemeClr>
                </a:solidFill>
              </a:rPr>
              <a:t>You</a:t>
            </a:r>
          </a:p>
        </p:txBody>
      </p:sp>
      <p:sp>
        <p:nvSpPr>
          <p:cNvPr id="8" name="Subtitle 7">
            <a:extLst>
              <a:ext uri="{FF2B5EF4-FFF2-40B4-BE49-F238E27FC236}">
                <a16:creationId xmlns:a16="http://schemas.microsoft.com/office/drawing/2014/main" id="{D7B1485F-80A0-C16A-DB6D-2536FBABB1F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07066" y="2762806"/>
            <a:ext cx="8413681" cy="3618329"/>
          </a:xfrm>
        </p:spPr>
        <p:txBody>
          <a:bodyPr>
            <a:noAutofit/>
          </a:bodyPr>
          <a:lstStyle/>
          <a:p>
            <a:r>
              <a:rPr lang="en-IN" b="1" dirty="0"/>
              <a:t>Rahul Pandey</a:t>
            </a:r>
          </a:p>
          <a:p>
            <a:r>
              <a:rPr lang="en-IN" dirty="0"/>
              <a:t>GitHub:</a:t>
            </a:r>
          </a:p>
          <a:p>
            <a:r>
              <a:rPr lang="en-IN" dirty="0"/>
              <a:t>github.com/rahul-9k</a:t>
            </a:r>
          </a:p>
          <a:p>
            <a:r>
              <a:rPr lang="en-IN" dirty="0"/>
              <a:t>LinkedIn:</a:t>
            </a:r>
          </a:p>
          <a:p>
            <a:r>
              <a:rPr lang="en-IN" dirty="0"/>
              <a:t>linkedin.com/in/rahulpandey9k</a:t>
            </a:r>
          </a:p>
          <a:p>
            <a:endParaRPr lang="en-IN" dirty="0"/>
          </a:p>
          <a:p>
            <a:r>
              <a:rPr lang="en-US" b="1" dirty="0"/>
              <a:t>Data Science Technical Assessment</a:t>
            </a:r>
          </a:p>
          <a:p>
            <a:r>
              <a:rPr lang="en-US" dirty="0"/>
              <a:t>PM Accelerator Internship Program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4762263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14:reveal/>
      </p:transition>
    </mc:Choice>
    <mc:Fallback xmlns="">
      <p:transition>
        <p:fade/>
      </p:transition>
    </mc:Fallback>
  </mc:AlternateContent>
</p:sld>
</file>

<file path=ppt/theme/theme1.xml><?xml version="1.0" encoding="utf-8"?>
<a:theme xmlns:a="http://schemas.openxmlformats.org/drawingml/2006/main" name="Facet">
  <a:themeElements>
    <a:clrScheme name="Facet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5FCBEF"/>
      </a:accent1>
      <a:accent2>
        <a:srgbClr val="2E83C3"/>
      </a:accent2>
      <a:accent3>
        <a:srgbClr val="42D0A2"/>
      </a:accent3>
      <a:accent4>
        <a:srgbClr val="2E946B"/>
      </a:accent4>
      <a:accent5>
        <a:srgbClr val="42B051"/>
      </a:accent5>
      <a:accent6>
        <a:srgbClr val="96D141"/>
      </a:accent6>
      <a:hlink>
        <a:srgbClr val="3FCDE7"/>
      </a:hlink>
      <a:folHlink>
        <a:srgbClr val="A9D3E1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0B5AB586-D108-4FC1-8368-649FE654B894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483</TotalTime>
  <Words>851</Words>
  <Application>Microsoft Office PowerPoint</Application>
  <PresentationFormat>Widescreen</PresentationFormat>
  <Paragraphs>200</Paragraphs>
  <Slides>19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5" baseType="lpstr">
      <vt:lpstr>Arial</vt:lpstr>
      <vt:lpstr>Calibri</vt:lpstr>
      <vt:lpstr>Times New Roman</vt:lpstr>
      <vt:lpstr>Trebuchet MS</vt:lpstr>
      <vt:lpstr>Wingdings 3</vt:lpstr>
      <vt:lpstr>Facet</vt:lpstr>
      <vt:lpstr>Global Weather Trend Forecasting and Climate Analysis</vt:lpstr>
      <vt:lpstr>PM Accelerator Mission</vt:lpstr>
      <vt:lpstr>Project Overview</vt:lpstr>
      <vt:lpstr>Dataset Overview</vt:lpstr>
      <vt:lpstr>Data Cleaning and Preprocessing</vt:lpstr>
      <vt:lpstr>Temperature Distribution Analysis</vt:lpstr>
      <vt:lpstr>Correlation Analysis</vt:lpstr>
      <vt:lpstr>Monthly Temperature and Precipitation Trends</vt:lpstr>
      <vt:lpstr>Seasonal Climate Analysis</vt:lpstr>
      <vt:lpstr>Environmental Impact Analysis</vt:lpstr>
      <vt:lpstr>Geographical and Spatial Weather Analysis</vt:lpstr>
      <vt:lpstr>Environmental Anomaly Detection</vt:lpstr>
      <vt:lpstr>Feature Importance Analysis</vt:lpstr>
      <vt:lpstr>Forecasting Pipeline</vt:lpstr>
      <vt:lpstr>Forecasting Models Implemented</vt:lpstr>
      <vt:lpstr>Forecasting Model Performance Comparison</vt:lpstr>
      <vt:lpstr>Actual vs Forecasted Temperature</vt:lpstr>
      <vt:lpstr>Key Insights and Learnings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Rahul Pandey</dc:creator>
  <cp:lastModifiedBy>Rahul Pandey</cp:lastModifiedBy>
  <cp:revision>4</cp:revision>
  <dcterms:created xsi:type="dcterms:W3CDTF">2026-05-07T19:59:53Z</dcterms:created>
  <dcterms:modified xsi:type="dcterms:W3CDTF">2026-05-08T21:08:51Z</dcterms:modified>
</cp:coreProperties>
</file>